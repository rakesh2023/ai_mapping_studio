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65" r:id="rId3"/>
    <p:sldId id="260" r:id="rId4"/>
    <p:sldId id="264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9-15T08:54:52.276"/>
    <p1510:client id="{65658AD8-C942-5F01-E6C9-4885BA7E5C81}" v="21" dt="2026-09-15T08:46:04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Sinha (US)" userId="S::rakesh.kumar.sinha@pwc.com::cc969243-5cc8-4c4a-a531-3e5d95c34d00" providerId="AD" clId="Web-{65658AD8-C942-5F01-E6C9-4885BA7E5C81}"/>
    <pc:docChg chg="modSld">
      <pc:chgData name="Rakesh Sinha (US)" userId="S::rakesh.kumar.sinha@pwc.com::cc969243-5cc8-4c4a-a531-3e5d95c34d00" providerId="AD" clId="Web-{65658AD8-C942-5F01-E6C9-4885BA7E5C81}" dt="2026-09-15T08:46:04.360" v="19" actId="20577"/>
      <pc:docMkLst>
        <pc:docMk/>
      </pc:docMkLst>
      <pc:sldChg chg="modSp">
        <pc:chgData name="Rakesh Sinha (US)" userId="S::rakesh.kumar.sinha@pwc.com::cc969243-5cc8-4c4a-a531-3e5d95c34d00" providerId="AD" clId="Web-{65658AD8-C942-5F01-E6C9-4885BA7E5C81}" dt="2026-09-15T08:46:04.360" v="19" actId="20577"/>
        <pc:sldMkLst>
          <pc:docMk/>
          <pc:sldMk cId="3452159243" sldId="263"/>
        </pc:sldMkLst>
        <pc:spChg chg="mod">
          <ac:chgData name="Rakesh Sinha (US)" userId="S::rakesh.kumar.sinha@pwc.com::cc969243-5cc8-4c4a-a531-3e5d95c34d00" providerId="AD" clId="Web-{65658AD8-C942-5F01-E6C9-4885BA7E5C81}" dt="2026-09-15T08:46:04.360" v="19" actId="20577"/>
          <ac:spMkLst>
            <pc:docMk/>
            <pc:sldMk cId="3452159243" sldId="263"/>
            <ac:spMk id="8" creationId="{00000000-0000-0000-0000-000000000000}"/>
          </ac:spMkLst>
        </pc:spChg>
        <pc:spChg chg="mod">
          <ac:chgData name="Rakesh Sinha (US)" userId="S::rakesh.kumar.sinha@pwc.com::cc969243-5cc8-4c4a-a531-3e5d95c34d00" providerId="AD" clId="Web-{65658AD8-C942-5F01-E6C9-4885BA7E5C81}" dt="2026-09-15T08:45:19.077" v="17" actId="20577"/>
          <ac:spMkLst>
            <pc:docMk/>
            <pc:sldMk cId="3452159243" sldId="263"/>
            <ac:spMk id="12" creationId="{00000000-0000-0000-0000-000000000000}"/>
          </ac:spMkLst>
        </pc:spChg>
        <pc:spChg chg="mod">
          <ac:chgData name="Rakesh Sinha (US)" userId="S::rakesh.kumar.sinha@pwc.com::cc969243-5cc8-4c4a-a531-3e5d95c34d00" providerId="AD" clId="Web-{65658AD8-C942-5F01-E6C9-4885BA7E5C81}" dt="2026-09-15T08:45:27.468" v="18" actId="20577"/>
          <ac:spMkLst>
            <pc:docMk/>
            <pc:sldMk cId="3452159243" sldId="263"/>
            <ac:spMk id="16" creationId="{00000000-0000-0000-0000-000000000000}"/>
          </ac:spMkLst>
        </pc:spChg>
      </pc:sldChg>
    </pc:docChg>
  </pc:docChgLst>
  <pc:docChgLst>
    <pc:chgData name="Rakesh Sinha (US)" userId="S::rakesh.kumar.sinha@pwc.com::cc969243-5cc8-4c4a-a531-3e5d95c34d00" providerId="AD" clId="Web-{00000000-0000-0000-0000-000000000000}"/>
    <pc:docChg chg="modSld">
      <pc:chgData name="Rakesh Sinha (US)" userId="S::rakesh.kumar.sinha@pwc.com::cc969243-5cc8-4c4a-a531-3e5d95c34d00" providerId="AD" clId="Web-{00000000-0000-0000-0000-000000000000}" dt="2026-09-15T08:54:50.933" v="2" actId="20577"/>
      <pc:docMkLst>
        <pc:docMk/>
      </pc:docMkLst>
      <pc:sldChg chg="modSp">
        <pc:chgData name="Rakesh Sinha (US)" userId="S::rakesh.kumar.sinha@pwc.com::cc969243-5cc8-4c4a-a531-3e5d95c34d00" providerId="AD" clId="Web-{00000000-0000-0000-0000-000000000000}" dt="2026-09-15T08:54:50.933" v="2" actId="20577"/>
        <pc:sldMkLst>
          <pc:docMk/>
          <pc:sldMk cId="1127182146" sldId="260"/>
        </pc:sldMkLst>
        <pc:spChg chg="mod">
          <ac:chgData name="Rakesh Sinha (US)" userId="S::rakesh.kumar.sinha@pwc.com::cc969243-5cc8-4c4a-a531-3e5d95c34d00" providerId="AD" clId="Web-{00000000-0000-0000-0000-000000000000}" dt="2026-09-15T08:54:50.933" v="2" actId="20577"/>
          <ac:spMkLst>
            <pc:docMk/>
            <pc:sldMk cId="1127182146" sldId="260"/>
            <ac:spMk id="3" creationId="{00000000-0000-0000-0000-000000000000}"/>
          </ac:spMkLst>
        </pc:spChg>
      </pc:sldChg>
    </pc:docChg>
  </pc:docChgLst>
  <pc:docChgLst>
    <pc:chgData name="Karthik Ramanath (US)" userId="S::karthik.p.ramanath@pwc.com::73d22310-6d51-41dc-9f94-c71975c28ccb" providerId="AD" clId="Web-{A2137A21-12F1-D49C-6792-0DB0925B7919}"/>
    <pc:docChg chg="addSld">
      <pc:chgData name="Karthik Ramanath (US)" userId="S::karthik.p.ramanath@pwc.com::73d22310-6d51-41dc-9f94-c71975c28ccb" providerId="AD" clId="Web-{A2137A21-12F1-D49C-6792-0DB0925B7919}" dt="2026-09-04T09:41:20.902" v="2"/>
      <pc:docMkLst>
        <pc:docMk/>
      </pc:docMkLst>
      <pc:sldChg chg="add">
        <pc:chgData name="Karthik Ramanath (US)" userId="S::karthik.p.ramanath@pwc.com::73d22310-6d51-41dc-9f94-c71975c28ccb" providerId="AD" clId="Web-{A2137A21-12F1-D49C-6792-0DB0925B7919}" dt="2026-09-04T09:35:38.375" v="0"/>
        <pc:sldMkLst>
          <pc:docMk/>
          <pc:sldMk cId="1127182146" sldId="260"/>
        </pc:sldMkLst>
      </pc:sldChg>
      <pc:sldChg chg="add">
        <pc:chgData name="Karthik Ramanath (US)" userId="S::karthik.p.ramanath@pwc.com::73d22310-6d51-41dc-9f94-c71975c28ccb" providerId="AD" clId="Web-{A2137A21-12F1-D49C-6792-0DB0925B7919}" dt="2026-09-04T09:41:20.902" v="2"/>
        <pc:sldMkLst>
          <pc:docMk/>
          <pc:sldMk cId="3452159243" sldId="263"/>
        </pc:sldMkLst>
      </pc:sldChg>
    </pc:docChg>
  </pc:docChgLst>
  <pc:docChgLst>
    <pc:chgData name="Rakesh Sinha (US)" userId="S::rakesh.kumar.sinha@pwc.com::cc969243-5cc8-4c4a-a531-3e5d95c34d00" providerId="AD" clId="Web-{FCAC16A5-4ED2-7F3C-CF4B-EFE181D20733}"/>
    <pc:docChg chg="delSld">
      <pc:chgData name="Rakesh Sinha (US)" userId="S::rakesh.kumar.sinha@pwc.com::cc969243-5cc8-4c4a-a531-3e5d95c34d00" providerId="AD" clId="Web-{FCAC16A5-4ED2-7F3C-CF4B-EFE181D20733}" dt="2026-09-04T13:03:43.378" v="0"/>
      <pc:docMkLst>
        <pc:docMk/>
      </pc:docMkLst>
    </pc:docChg>
  </pc:docChgLst>
  <pc:docChgLst>
    <pc:chgData clId="Web-{F449CBA0-0D4F-DC46-26C8-B146DAB06283}"/>
    <pc:docChg chg="delSld">
      <pc:chgData name="" userId="" providerId="" clId="Web-{F449CBA0-0D4F-DC46-26C8-B146DAB06283}" dt="2026-09-04T11:53:54.307" v="0"/>
      <pc:docMkLst>
        <pc:docMk/>
      </pc:docMkLst>
    </pc:docChg>
  </pc:docChgLst>
  <pc:docChgLst>
    <pc:chgData name="Rakesh Sinha (US)" userId="S::rakesh.kumar.sinha@pwc.com::cc969243-5cc8-4c4a-a531-3e5d95c34d00" providerId="AD" clId="Web-{F449CBA0-0D4F-DC46-26C8-B146DAB06283}"/>
    <pc:docChg chg="delSld modSld">
      <pc:chgData name="Rakesh Sinha (US)" userId="S::rakesh.kumar.sinha@pwc.com::cc969243-5cc8-4c4a-a531-3e5d95c34d00" providerId="AD" clId="Web-{F449CBA0-0D4F-DC46-26C8-B146DAB06283}" dt="2026-09-04T11:54:34.402" v="4"/>
      <pc:docMkLst>
        <pc:docMk/>
      </pc:docMkLst>
      <pc:sldChg chg="modSp">
        <pc:chgData name="Rakesh Sinha (US)" userId="S::rakesh.kumar.sinha@pwc.com::cc969243-5cc8-4c4a-a531-3e5d95c34d00" providerId="AD" clId="Web-{F449CBA0-0D4F-DC46-26C8-B146DAB06283}" dt="2026-09-04T11:54:34.402" v="4"/>
        <pc:sldMkLst>
          <pc:docMk/>
          <pc:sldMk cId="3452159243" sldId="263"/>
        </pc:sldMkLst>
        <pc:spChg chg="mod">
          <ac:chgData name="Rakesh Sinha (US)" userId="S::rakesh.kumar.sinha@pwc.com::cc969243-5cc8-4c4a-a531-3e5d95c34d00" providerId="AD" clId="Web-{F449CBA0-0D4F-DC46-26C8-B146DAB06283}" dt="2026-09-04T11:54:27.355" v="1" actId="1076"/>
          <ac:spMkLst>
            <pc:docMk/>
            <pc:sldMk cId="3452159243" sldId="263"/>
            <ac:spMk id="12" creationId="{00000000-0000-0000-0000-000000000000}"/>
          </ac:spMkLst>
        </pc:spChg>
        <pc:spChg chg="mod">
          <ac:chgData name="Rakesh Sinha (US)" userId="S::rakesh.kumar.sinha@pwc.com::cc969243-5cc8-4c4a-a531-3e5d95c34d00" providerId="AD" clId="Web-{F449CBA0-0D4F-DC46-26C8-B146DAB06283}" dt="2026-09-04T11:54:34.402" v="4"/>
          <ac:spMkLst>
            <pc:docMk/>
            <pc:sldMk cId="3452159243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05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99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7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pages/app.html#dashboard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/>
              <a:t>Presentation by </a:t>
            </a:r>
            <a:r>
              <a:rPr lang="en-GB" b="1" noProof="0"/>
              <a:t>Rakesh Kumar Sinha</a:t>
            </a:r>
          </a:p>
          <a:p>
            <a:r>
              <a:rPr lang="en-GB" noProof="0"/>
              <a:t>09/04/2026      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409861-486B-9C12-2101-DC0478BF6D59}"/>
              </a:ext>
            </a:extLst>
          </p:cNvPr>
          <p:cNvSpPr txBox="1"/>
          <p:nvPr/>
        </p:nvSpPr>
        <p:spPr>
          <a:xfrm>
            <a:off x="432652" y="1814831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Data</a:t>
            </a:r>
            <a:endParaRPr lang="en-US" sz="440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Studio</a:t>
            </a:r>
            <a:endParaRPr lang="en-US" sz="44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6A556D3-1BA6-80CA-5C34-E066D6B1CB00}"/>
              </a:ext>
            </a:extLst>
          </p:cNvPr>
          <p:cNvSpPr txBox="1"/>
          <p:nvPr/>
        </p:nvSpPr>
        <p:spPr>
          <a:xfrm>
            <a:off x="484974" y="3301734"/>
            <a:ext cx="40071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Drafted by AI</a:t>
            </a:r>
            <a:r>
              <a:rPr lang="en-US" sz="1200" b="1" kern="0" spc="15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200" b="1" kern="0" spc="1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 by Human.</a:t>
            </a:r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E6AE0FB-95B9-242F-0D65-E2ED7368CB4C}"/>
              </a:ext>
            </a:extLst>
          </p:cNvPr>
          <p:cNvSpPr txBox="1"/>
          <p:nvPr/>
        </p:nvSpPr>
        <p:spPr>
          <a:xfrm>
            <a:off x="449652" y="4253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legacy data to Guidewire faster,</a:t>
            </a:r>
            <a:endParaRPr lang="en-US" sz="1500"/>
          </a:p>
          <a:p>
            <a:pPr marL="0" indent="0">
              <a:lnSpc>
                <a:spcPct val="120000"/>
              </a:lnSpc>
              <a:buNone/>
            </a:pPr>
            <a:r>
              <a:rPr lang="en-US" sz="150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less effort and lower risk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65854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118872" cy="118872"/>
          </a:xfrm>
          <a:prstGeom prst="ellipse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2084" y="457200"/>
            <a:ext cx="118872" cy="118872"/>
          </a:xfrm>
          <a:prstGeom prst="ellipse">
            <a:avLst/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" y="457200"/>
            <a:ext cx="118872" cy="118872"/>
          </a:xfrm>
          <a:prstGeom prst="ellipse">
            <a:avLst/>
          </a:prstGeom>
          <a:solidFill>
            <a:srgbClr val="E03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solidFill>
                  <a:srgbClr val="D04A02"/>
                </a:solidFill>
                <a:latin typeface="Arial"/>
              </a:rPr>
              <a:t>CONTEXT</a:t>
            </a:r>
            <a:r>
              <a:rPr lang="en-US" sz="1100" b="1" spc="200" dirty="0">
                <a:solidFill>
                  <a:srgbClr val="D04A02"/>
                </a:solidFill>
                <a:latin typeface="Arial"/>
              </a:rPr>
              <a:t> : WHAT IS DATA CONVERSION</a:t>
            </a:r>
            <a:endParaRPr sz="1100" b="1" spc="200" dirty="0">
              <a:solidFill>
                <a:srgbClr val="D04A02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632" y="914400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2B2B2B"/>
                </a:solidFill>
                <a:latin typeface="Arial"/>
              </a:rPr>
              <a:t>Where it fits in your </a:t>
            </a:r>
            <a:r>
              <a:rPr lang="en-US" sz="3000" b="1" dirty="0">
                <a:solidFill>
                  <a:srgbClr val="2B2B2B"/>
                </a:solidFill>
                <a:latin typeface="Arial"/>
              </a:rPr>
              <a:t>conversion Process</a:t>
            </a:r>
            <a:endParaRPr sz="3000" b="1" dirty="0">
              <a:solidFill>
                <a:srgbClr val="2B2B2B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8A8A"/>
                </a:solidFill>
                <a:latin typeface="Arial"/>
              </a:rPr>
              <a:t>AI Data Conversion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473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8A8A8A"/>
                </a:solidFill>
                <a:latin typeface="Arial"/>
              </a:rPr>
              <a:t>PwC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8A8A8A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Your legacy data is prepared, transformed and loaded into Guidewire. The Studio is where the mapping and transformation work gets defined — the hard 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3246120" cy="2880360"/>
          </a:xfrm>
          <a:prstGeom prst="roundRect">
            <a:avLst>
              <a:gd name="adj" fmla="val 5000"/>
            </a:avLst>
          </a:prstGeom>
          <a:solidFill>
            <a:srgbClr val="F6F3F0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E03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Your source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0400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Policy · Claims · Billing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77056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Customer &amp; reference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53712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Databases and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2468880"/>
            <a:ext cx="3246120" cy="2880360"/>
          </a:xfrm>
          <a:prstGeom prst="roundRect">
            <a:avLst>
              <a:gd name="adj" fmla="val 5000"/>
            </a:avLst>
          </a:prstGeom>
          <a:solidFill>
            <a:srgbClr val="F6F3F0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09159" y="2468880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D04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2468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Prepare &amp; transform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79" y="3200400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199" y="3200400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Organise the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79" y="3877056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199" y="3877056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Apply the mappings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79" y="4553712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199" y="4553712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Ready it for the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2468880"/>
            <a:ext cx="3246120" cy="2880360"/>
          </a:xfrm>
          <a:prstGeom prst="roundRect">
            <a:avLst>
              <a:gd name="adj" fmla="val 5000"/>
            </a:avLst>
          </a:prstGeom>
          <a:solidFill>
            <a:srgbClr val="F6F3F0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15400" y="2468880"/>
            <a:ext cx="3246120" cy="50292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15400" y="2468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Guidewire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200400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3200400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ClaimCenter · PolicyCenter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3877056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5440" y="3877056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Loaded &amp; reconciled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4553712"/>
            <a:ext cx="2697479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4553712"/>
            <a:ext cx="2606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2B2B2B"/>
                </a:solidFill>
                <a:latin typeface="Arial"/>
              </a:rPr>
              <a:t>Ready for business use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904487" y="3707892"/>
            <a:ext cx="640080" cy="402336"/>
          </a:xfrm>
          <a:prstGeom prst="rightArrow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/>
          <p:cNvSpPr/>
          <p:nvPr/>
        </p:nvSpPr>
        <p:spPr>
          <a:xfrm>
            <a:off x="8110727" y="3707892"/>
            <a:ext cx="640080" cy="402336"/>
          </a:xfrm>
          <a:prstGeom prst="rightArrow">
            <a:avLst/>
          </a:prstGeom>
          <a:solidFill>
            <a:srgbClr val="E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12000"/>
            </a:avLst>
          </a:prstGeom>
          <a:solidFill>
            <a:srgbClr val="FDEEE4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669280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A83A00"/>
                </a:solidFill>
                <a:latin typeface="Arial"/>
              </a:rPr>
              <a:t>AI Data Conversion Studio  </a:t>
            </a:r>
            <a:r>
              <a:rPr sz="1150" b="0">
                <a:solidFill>
                  <a:srgbClr val="2B2B2B"/>
                </a:solidFill>
                <a:latin typeface="Arial"/>
              </a:rPr>
              <a:t>is where you define and approve the mappings and generate what is needed to move the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Making Guidewire Data Conversion Smarter and Safer with AI</a:t>
            </a:r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3898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chemeClr val="tx1"/>
                </a:solidFill>
                <a:ea typeface="Arial" pitchFamily="34" charset="-122"/>
              </a:rPr>
              <a:t>What is data conversion? The process of extracting legacy policy, claims and billing data from old systems and loading it into Guidewire in a clean, validated, structured form.</a:t>
            </a:r>
            <a:endParaRPr lang="en-US" sz="125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204258"/>
            <a:ext cx="5455768" cy="160020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238713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04088" y="2387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097280" y="235056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and manual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704088" y="2771186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chemeClr val="tx1"/>
                </a:solidFill>
                <a:ea typeface="Arial" pitchFamily="34" charset="-122"/>
              </a:rPr>
              <a:t>Analysts hand-map thousands of data fields in spreadsheets — weeks of effort that is hard to review and easy to get wrong.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3008" y="2204258"/>
            <a:ext cx="5455768" cy="160020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34176" y="238713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34176" y="23871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6827368" y="235056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track Changes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6434176" y="2771186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 sz="1050" b="1">
                <a:solidFill>
                  <a:schemeClr val="tx1"/>
                </a:solidFill>
                <a:ea typeface="Arial" pitchFamily="34" charset="-122"/>
              </a:rPr>
              <a:t>Changes happen in silos</a:t>
            </a:r>
            <a:r>
              <a:rPr lang="en-US" sz="1050">
                <a:solidFill>
                  <a:schemeClr val="tx1"/>
                </a:solidFill>
                <a:ea typeface="Arial" pitchFamily="34" charset="-122"/>
              </a:rPr>
              <a:t> — BA mapping, Config, and DB changes are not consistently communicated to developers.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050" b="1">
                <a:solidFill>
                  <a:schemeClr val="tx1"/>
                </a:solidFill>
                <a:ea typeface="Arial" pitchFamily="34" charset="-122"/>
              </a:rPr>
              <a:t>Missed changes becomes defects</a:t>
            </a:r>
            <a:r>
              <a:rPr lang="en-US" sz="1050">
                <a:solidFill>
                  <a:schemeClr val="tx1"/>
                </a:solidFill>
                <a:ea typeface="Arial" pitchFamily="34" charset="-122"/>
              </a:rPr>
              <a:t> — leading to rework, regression issues, and release delays.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sz="1050">
              <a:solidFill>
                <a:srgbClr val="6B728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969050"/>
            <a:ext cx="5455768" cy="160020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" y="415193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04088" y="4151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097280" y="411535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rework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704088" y="4535978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chemeClr val="tx1"/>
                </a:solidFill>
                <a:ea typeface="Arial" pitchFamily="34" charset="-122"/>
              </a:rPr>
              <a:t>Transformation logic is built by hand and drifts from the plan — small changes ripple into expensive rework.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33008" y="3969050"/>
            <a:ext cx="5455768" cy="1600200"/>
          </a:xfrm>
          <a:prstGeom prst="rect">
            <a:avLst/>
          </a:prstGeom>
          <a:solidFill>
            <a:srgbClr val="F5F7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34176" y="415193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34176" y="4151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6827368" y="411535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Surprises during testing phases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6434176" y="4535978"/>
            <a:ext cx="504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chemeClr val="tx1"/>
                </a:solidFill>
                <a:ea typeface="Arial" pitchFamily="34" charset="-122"/>
              </a:rPr>
              <a:t>Duplicates, missing values and bad codes surface only during testing — forcing fire-drills before go-live.</a:t>
            </a:r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48423" y="6443195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ea typeface="Arial" pitchFamily="34" charset="-122"/>
              </a:rPr>
              <a:t>AI Data Conversion Studio  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112718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kern="0" spc="150" dirty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</a:t>
            </a:r>
            <a:r>
              <a:rPr lang="en-US" sz="1100" kern="0" dirty="0">
                <a:ea typeface="Arial" pitchFamily="34" charset="-122"/>
                <a:cs typeface="Arial" pitchFamily="34" charset="-120"/>
              </a:rPr>
              <a:t> </a:t>
            </a:r>
            <a:r>
              <a:rPr sz="1100" b="1" spc="200" dirty="0">
                <a:solidFill>
                  <a:srgbClr val="FD5108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Georgia"/>
              </a:rPr>
              <a:t>Manual effort vs. AI-assisted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44168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A4A"/>
                </a:solidFill>
                <a:latin typeface="Arial"/>
              </a:rPr>
              <a:t>The same conversion work — the old, manual way versus with AI Data Conversion Studio.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87168" y="1938528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87168" y="193852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Manual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7184" y="1938528"/>
            <a:ext cx="4526280" cy="457200"/>
          </a:xfrm>
          <a:prstGeom prst="roundRect">
            <a:avLst>
              <a:gd name="adj" fmla="val 14000"/>
            </a:avLst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87184" y="193852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With AI Data Conversion Studio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2768346"/>
            <a:ext cx="91440" cy="914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542032"/>
            <a:ext cx="1673351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2542032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88336" y="2676906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88336" y="267690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542032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4A4A4A"/>
                </a:solidFill>
                <a:latin typeface="Arial"/>
              </a:rPr>
              <a:t>Weeks hand-mapping thousands of fields in spreadsheets.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7184" y="2542032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88352" y="2676906"/>
            <a:ext cx="274320" cy="27432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267690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542032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First-draft mappings generated in minutes.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" y="3394710"/>
            <a:ext cx="91440" cy="914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168396"/>
            <a:ext cx="1673351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3168396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688336" y="330327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88336" y="330327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3362075"/>
            <a:ext cx="3739896" cy="156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dirty="0">
                <a:solidFill>
                  <a:srgbClr val="4A4A4A"/>
                </a:solidFill>
                <a:latin typeface="Arial"/>
              </a:rPr>
              <a:t>Errors surface late — during testing</a:t>
            </a:r>
            <a:r>
              <a:rPr lang="en-US" sz="1050" b="0" dirty="0">
                <a:solidFill>
                  <a:srgbClr val="4A4A4A"/>
                </a:solidFill>
                <a:latin typeface="Arial"/>
              </a:rPr>
              <a:t>, SIT, UAT</a:t>
            </a:r>
            <a:r>
              <a:rPr sz="1050" b="0" dirty="0">
                <a:solidFill>
                  <a:srgbClr val="4A4A4A"/>
                </a:solidFill>
                <a:latin typeface="Arial"/>
              </a:rPr>
              <a:t>, close to go-live.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87184" y="3168396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88352" y="3303270"/>
            <a:ext cx="274320" cy="27432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330327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168396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Fewer mapping issues; reviewers see the mapping up front.</a:t>
            </a:r>
          </a:p>
        </p:txBody>
      </p:sp>
      <p:sp>
        <p:nvSpPr>
          <p:cNvPr id="29" name="Oval 28"/>
          <p:cNvSpPr/>
          <p:nvPr/>
        </p:nvSpPr>
        <p:spPr>
          <a:xfrm>
            <a:off x="521208" y="4021074"/>
            <a:ext cx="91440" cy="914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794760"/>
            <a:ext cx="1673351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87168" y="3794760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88336" y="3929634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88336" y="392963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0672" y="3794760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4A4A4A"/>
                </a:solidFill>
                <a:latin typeface="Arial"/>
              </a:rPr>
              <a:t>Hard to review, easy to get wrong.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87184" y="3794760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88352" y="3929634"/>
            <a:ext cx="274320" cy="27432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88352" y="392963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3794760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Human-in-the-loop approves every mapping and rule.</a:t>
            </a:r>
          </a:p>
        </p:txBody>
      </p:sp>
      <p:sp>
        <p:nvSpPr>
          <p:cNvPr id="39" name="Oval 38"/>
          <p:cNvSpPr/>
          <p:nvPr/>
        </p:nvSpPr>
        <p:spPr>
          <a:xfrm>
            <a:off x="521208" y="4647438"/>
            <a:ext cx="91440" cy="914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" y="4421124"/>
            <a:ext cx="1673351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Traceability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7168" y="4421124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688336" y="455599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88336" y="455599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90672" y="4421124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4A4A4A"/>
                </a:solidFill>
                <a:latin typeface="Arial"/>
              </a:rPr>
              <a:t>Changes happen in silos — BA, config and DB drift apart.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87184" y="4421124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88352" y="4555998"/>
            <a:ext cx="274320" cy="27432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88352" y="455599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0688" y="4421124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Full audit trail and logs at each decision step.</a:t>
            </a:r>
          </a:p>
        </p:txBody>
      </p:sp>
      <p:sp>
        <p:nvSpPr>
          <p:cNvPr id="49" name="Oval 48"/>
          <p:cNvSpPr/>
          <p:nvPr/>
        </p:nvSpPr>
        <p:spPr>
          <a:xfrm>
            <a:off x="521208" y="5273802"/>
            <a:ext cx="91440" cy="914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4088" y="5047488"/>
            <a:ext cx="1673351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Consistency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87168" y="5047488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 w="12700">
            <a:solidFill>
              <a:srgbClr val="E4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688336" y="518236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88336" y="518236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0672" y="5047488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4A4A4A"/>
                </a:solidFill>
                <a:latin typeface="Arial"/>
              </a:rPr>
              <a:t>Varies by analyst and by engagement.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87184" y="5047488"/>
            <a:ext cx="4526280" cy="544068"/>
          </a:xfrm>
          <a:prstGeom prst="roundRect">
            <a:avLst>
              <a:gd name="adj" fmla="val 10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388352" y="5182362"/>
            <a:ext cx="274320" cy="27432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88352" y="518236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90688" y="5047488"/>
            <a:ext cx="3739896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One unified tool, repeatable across every client.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5728716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FF5ED"/>
          </a:solidFill>
          <a:ln w="12700">
            <a:solidFill>
              <a:srgbClr val="F3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" y="5728716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D5108"/>
                </a:solidFill>
                <a:latin typeface="Arial"/>
              </a:rPr>
              <a:t>The bottom line:  </a:t>
            </a:r>
            <a:r>
              <a:rPr sz="1200" b="0">
                <a:solidFill>
                  <a:srgbClr val="000000"/>
                </a:solidFill>
                <a:latin typeface="Arial"/>
              </a:rPr>
              <a:t>weeks of manual effort become minutes — with issues caught up front and every decision logged.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4286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AI Data Conversion 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4000"/>
          </a:p>
        </p:txBody>
      </p:sp>
      <p:sp>
        <p:nvSpPr>
          <p:cNvPr id="3" name="Text 1"/>
          <p:cNvSpPr txBox="1"/>
          <p:nvPr/>
        </p:nvSpPr>
        <p:spPr>
          <a:xfrm>
            <a:off x="50292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AI Data Conversion Studio in action</a:t>
            </a:r>
            <a:endParaRPr lang="en-US" sz="1500"/>
          </a:p>
        </p:txBody>
      </p:sp>
      <p:sp>
        <p:nvSpPr>
          <p:cNvPr id="4" name="Text 2"/>
          <p:cNvSpPr txBox="1"/>
          <p:nvPr/>
        </p:nvSpPr>
        <p:spPr>
          <a:xfrm>
            <a:off x="50292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URL:  </a:t>
            </a:r>
            <a:r>
              <a:rPr lang="en-US" sz="1600" b="1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Demo</a:t>
            </a:r>
            <a:endParaRPr lang="en-US" sz="1600"/>
          </a:p>
        </p:txBody>
      </p:sp>
      <p:sp>
        <p:nvSpPr>
          <p:cNvPr id="5" name="Text 3"/>
          <p:cNvSpPr txBox="1"/>
          <p:nvPr/>
        </p:nvSpPr>
        <p:spPr>
          <a:xfrm>
            <a:off x="502920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1000"/>
          </a:p>
        </p:txBody>
      </p:sp>
      <p:sp>
        <p:nvSpPr>
          <p:cNvPr id="6" name="Text 4"/>
          <p:cNvSpPr txBox="1"/>
          <p:nvPr/>
        </p:nvSpPr>
        <p:spPr>
          <a:xfrm>
            <a:off x="886968" y="6547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Conversion Studio  |  Confidential</a:t>
            </a:r>
            <a:endParaRPr lang="en-US" sz="850"/>
          </a:p>
        </p:txBody>
      </p:sp>
      <p:sp>
        <p:nvSpPr>
          <p:cNvPr id="7" name="Text 5"/>
          <p:cNvSpPr txBox="1"/>
          <p:nvPr/>
        </p:nvSpPr>
        <p:spPr>
          <a:xfrm>
            <a:off x="11140135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497</Words>
  <Application>Microsoft Office PowerPoint</Application>
  <PresentationFormat>Widescreen</PresentationFormat>
  <Paragraphs>84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Sinha (US)</cp:lastModifiedBy>
  <cp:revision>3</cp:revision>
  <dcterms:created xsi:type="dcterms:W3CDTF">2026-09-03T09:16:22Z</dcterms:created>
  <dcterms:modified xsi:type="dcterms:W3CDTF">2026-09-22T07:23:59Z</dcterms:modified>
</cp:coreProperties>
</file>