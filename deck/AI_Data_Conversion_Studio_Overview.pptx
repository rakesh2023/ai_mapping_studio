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7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5191" autoAdjust="0"/>
  </p:normalViewPr>
  <p:slideViewPr>
    <p:cSldViewPr snapToGrid="0">
      <p:cViewPr varScale="1">
        <p:scale>
          <a:sx n="98" d="100"/>
          <a:sy n="98" d="100"/>
        </p:scale>
        <p:origin x="616" y="200"/>
      </p:cViewPr>
      <p:guideLst/>
    </p:cSldViewPr>
  </p:slideViewPr>
  <p:outlineViewPr>
    <p:cViewPr>
      <p:scale>
        <a:sx n="33" d="100"/>
        <a:sy n="33" d="100"/>
      </p:scale>
      <p:origin x="-64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1" d="100"/>
        <a:sy n="21" d="100"/>
      </p:scale>
      <p:origin x="0" y="-219"/>
    </p:cViewPr>
  </p:sorterViewPr>
  <p:notesViewPr>
    <p:cSldViewPr snapToGrid="0">
      <p:cViewPr varScale="1">
        <p:scale>
          <a:sx n="65" d="100"/>
          <a:sy n="65" d="100"/>
        </p:scale>
        <p:origin x="2565" y="3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5/25/26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cover image</a:t>
            </a:r>
          </a:p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88181" y="781004"/>
            <a:ext cx="5670320" cy="3219495"/>
          </a:xfrm>
        </p:spPr>
        <p:txBody>
          <a:bodyPr tIns="73152"/>
          <a:lstStyle>
            <a:lvl1pPr marL="647700" indent="-55245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22340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491579" y="781329"/>
            <a:ext cx="432486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D3D9662-5F2D-57D9-7407-78275144A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7480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EEDD237-2AD5-3154-E113-01E98DC09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71949" y="890680"/>
            <a:ext cx="4224722" cy="2589534"/>
          </a:xfrm>
        </p:spPr>
        <p:txBody>
          <a:bodyPr lIns="91440"/>
          <a:lstStyle>
            <a:lvl1pPr marL="292608" indent="-573088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/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98978" y="890680"/>
            <a:ext cx="4224722" cy="2589534"/>
          </a:xfrm>
        </p:spPr>
        <p:txBody>
          <a:bodyPr lIns="91440"/>
          <a:lstStyle>
            <a:lvl1pPr marL="393192" indent="-676656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tabLst>
                <a:tab pos="225425" algn="r"/>
              </a:tabLst>
              <a:defRPr sz="1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824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BFC34-8CB2-CC41-3972-5FC87B9BDCE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888" y="1924050"/>
            <a:ext cx="5285403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37A09F-4048-050A-FDB3-83EC9C3725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49975" y="1924050"/>
            <a:ext cx="5285403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24C1953-6774-4962-D21C-79F931E8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702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11453638" cy="4046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41698-5CD8-C604-8076-E2C71744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9364" y="886968"/>
            <a:ext cx="11454336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64D4B-08FC-0F72-14EE-FFE49CBE3E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8301" y="1924050"/>
            <a:ext cx="5284844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630663-0430-1D7C-EBF0-D28C79961C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1924050"/>
            <a:ext cx="528484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831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6065" y="370158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371478"/>
            <a:ext cx="2514282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F56AB70-B001-F407-DDA0-8274B081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1"/>
            <a:ext cx="3855863" cy="56021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90686" y="370158"/>
            <a:ext cx="3649948" cy="2486022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43016" y="371478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0686" y="2960903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43016" y="2977040"/>
            <a:ext cx="2514283" cy="248602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0C2534F-0DED-9179-1BA0-BA7BBA63E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57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59847" y="1399935"/>
            <a:ext cx="2514283" cy="1938812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 sz="1500" b="1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0557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5984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9536" y="1409922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43017" y="1399935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9536" y="3492323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43017" y="3492323"/>
            <a:ext cx="2514283" cy="1938812"/>
          </a:xfrm>
        </p:spPr>
        <p:txBody>
          <a:bodyPr/>
          <a:lstStyle>
            <a:lvl1pPr>
              <a:spcAft>
                <a:spcPts val="1200"/>
              </a:spcAft>
              <a:defRPr lang="en-US" sz="15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1E3B5C0-2252-2AC3-B6AC-A233A36FB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847D5-ADA8-3259-2549-281D1A6D5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3E9A5D-D94B-2C14-C57F-8CEEA73EB9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89906B8-D3A9-4BCE-6015-ACFE378C72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E0E6B83-F5A0-569B-4BAB-B7F61D7D08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6DFEB0B-173F-2B4F-16A8-263FCC6CE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027B2-3AF9-ACB0-EFBF-E307D2CA3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7776" y="886968"/>
            <a:ext cx="11455924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015D90A-43B1-2686-2FB5-24977CABC7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05BD07F-9015-08E7-A1B9-CEE3998C38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6E79EC7-3C5A-2B86-5F55-4E1518901C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74025" y="1924049"/>
            <a:ext cx="3235512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9704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E946374-FA30-CA90-8DA8-4D3D9C8D95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9C1A15D-9D72-ADF5-F762-A0FCDB4299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4016E-E9A2-621D-7E7E-4C60EA7D14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5674" y="1924050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B0989A2-BAE8-DBCB-9B68-2A6A9EEEC5C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4025" y="1924049"/>
            <a:ext cx="3235512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661239-E68D-0808-F96A-FE85956F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0062" y="1407233"/>
            <a:ext cx="5229293" cy="4564941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EE09F-88BE-B892-E588-CE1A64CF45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2441575"/>
            <a:ext cx="2781300" cy="353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9862BAD-5A88-900F-A59B-68B96AB414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2441575"/>
            <a:ext cx="2781300" cy="353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A847B6-5ED7-CD22-AC77-BE2F8741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64683" y="1933273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55500F-3808-9CA2-1F44-A64164571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46331-F0CB-B769-2ED0-10C215328D5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809C51E-8610-C513-8EEC-D5CB091B65E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25925" y="1933575"/>
            <a:ext cx="3280410" cy="4146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DFE232A4-E7EE-98E3-AD8F-428E48A336B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87167" y="1933575"/>
            <a:ext cx="3280410" cy="4146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39229A9-9F4B-8863-1C67-62C2859D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27894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9AEC2-3D38-AA3C-D9ED-F56066F02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B415381-8D1E-8A6F-693B-DB90EB881D1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5125" y="3603812"/>
            <a:ext cx="3335338" cy="2476313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E8D28FD-FF5F-398A-38AD-0E9B9DE0EC1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225925" y="1924050"/>
            <a:ext cx="3740150" cy="1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2C8463D-8B6E-9FF2-1B5C-72452E9273E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25925" y="4006850"/>
            <a:ext cx="3740150" cy="1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39DE996C-A166-458A-310E-FEBC9C52A70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7920" y="1924050"/>
            <a:ext cx="3740150" cy="1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134591D3-6AC4-CADD-BA45-13112332007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087920" y="4006850"/>
            <a:ext cx="3740150" cy="1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3601CD4-0BCA-521B-0F56-3E84B8C91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7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7D3849-C8CD-8658-1466-0AC905A32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8CA74-2A20-C79E-AB93-415F841BF9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8300" y="1924049"/>
            <a:ext cx="3548063" cy="4048125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4A2F6DA-84DB-C19E-4C0E-907410D65A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25925" y="1924049"/>
            <a:ext cx="3621405" cy="166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1E96ECE-0D5F-0C73-B9DA-305E820717B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084820" y="1924049"/>
            <a:ext cx="3621405" cy="1663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FB0C79D-C35F-8072-C668-9D9D7A93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3155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1060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79441" y="1407888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658801-9D03-6822-31B7-920A8C4C5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0" y="4000500"/>
            <a:ext cx="3621405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E8465518-586C-3585-5D66-F8C5F784114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1059" y="4000500"/>
            <a:ext cx="3621405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A0F579-2C59-6C73-6CB2-7D28A65E2EE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2597" y="4000500"/>
            <a:ext cx="3621405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C860A8A-DDDD-D41D-7D92-718D7B4F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2723"/>
            <a:ext cx="3389473" cy="196945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72399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BD5BA45-6FFD-0692-0F0F-E110F28E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2DDC5-30CC-4253-DAE0-02B6367366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41800" y="4002088"/>
            <a:ext cx="3621405" cy="2078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C4F89F3-153E-1F6B-8CFE-E1D4D68749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84820" y="4002088"/>
            <a:ext cx="3621405" cy="20780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18F79E-2EEB-FEB6-9FD2-CF00E69E39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50CDAE4-0C34-CA3B-8150-C653F96325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2934F70-692D-5369-94C8-0030A3CD43F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75F0D866-D99D-B922-92B9-43D8C80FC3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28C2AC20-FA64-9BFB-4B6C-CC4DC765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0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AE7EEF-B347-4D56-A6AE-448368A5BE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5EB01E0-E6A4-D360-2FD4-9B71B2DE0DC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626FCF7-D9DB-AA92-E09A-63795E0A9BF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EAED7B3-1E01-DB3C-A9C0-C02BF6D0CA4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1DF4DD5F-AF74-EA4E-244D-3B8BF6C634D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042400" y="1924050"/>
            <a:ext cx="27844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709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DAB432F-854F-42B3-F530-13E74D7AA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7B41B5-877C-16C0-86C3-0049A6AEFDB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34448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AF5BE851-36FB-AE1C-238B-97C05E05B1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39222" y="3482975"/>
            <a:ext cx="34448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3EBFD86-34DE-5EF4-510C-8C6F417E64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77870" y="3482975"/>
            <a:ext cx="34448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7ADAD20-05B4-05C7-E934-6F9C1436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B11690-3DC6-7B4C-5196-E388A51146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7CA4CE-E47A-514D-5828-6AA4EAEAA5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82975"/>
            <a:ext cx="27844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BE81782A-2131-81EC-B274-273228A022F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57550" y="3482975"/>
            <a:ext cx="27844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C7B2FA3-BB01-C042-C3E2-CE1E30B4DC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49975" y="3482975"/>
            <a:ext cx="27844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5817751D-AEF1-E60E-A99F-8E78DF21FF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042400" y="3482975"/>
            <a:ext cx="2784475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C495E7E-4FB5-532A-2A69-899751FD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C48D2-B18D-75C7-0C7E-1D9DB1396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DE25965-5FF0-06E1-006B-1D9AEC33DC6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1406525"/>
            <a:ext cx="4711700" cy="1447800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8317B-0C78-D1D7-C7AA-97B940FCDFD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6830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9E1EEBC7-B3D2-0C33-A1E4-86D938D57B9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257550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E61D85C-E065-C899-A314-61A97478995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14997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2AC1B240-8DE4-93F4-7F67-7A0D12BFCB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039225" y="2959100"/>
            <a:ext cx="2784475" cy="3013075"/>
          </a:xfrm>
          <a:solidFill>
            <a:srgbClr val="FFE8D4"/>
          </a:solidFill>
        </p:spPr>
        <p:txBody>
          <a:bodyPr lIns="144000" rIns="144000" bIns="144000"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6AF7A0A-28F9-E71C-DA0E-449F854A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06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2926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55753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972" y="1407234"/>
            <a:ext cx="2647951" cy="2455863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C3E4A20-48E1-6B96-207C-2A01DD8E97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769020-22C9-8DED-D532-40F11F2D33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8300" y="4000500"/>
            <a:ext cx="26924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BE4E3AAB-764D-686D-74DE-DD6CA156031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62926" y="3998912"/>
            <a:ext cx="26924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2BEB6BEE-26A1-CA65-94AF-66C85CEB8FB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998912"/>
            <a:ext cx="26924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E50EC622-9E3E-7826-5B6E-3F05131728C6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972" y="3998912"/>
            <a:ext cx="2692400" cy="20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7CC549C-7C7A-4C05-D6A7-8187C415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054" y="1407234"/>
            <a:ext cx="5669646" cy="248214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5361E65-8489-022E-9A46-0B36035A1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3BE73-FFB9-9122-4626-1B97EB913FE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9888" y="1406525"/>
            <a:ext cx="2782887" cy="456565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EA7D05-D7C0-FDE4-0EBC-5FC8729460E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7550" y="1406525"/>
            <a:ext cx="2784475" cy="456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B30585-2E0B-0145-792D-87F4CBF909B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49975" y="4000500"/>
            <a:ext cx="2781300" cy="197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Content Placeholder 13">
            <a:extLst>
              <a:ext uri="{FF2B5EF4-FFF2-40B4-BE49-F238E27FC236}">
                <a16:creationId xmlns:a16="http://schemas.microsoft.com/office/drawing/2014/main" id="{CF1ADCBF-761E-4BC8-95AF-5ED8A304B9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042400" y="4000500"/>
            <a:ext cx="2781300" cy="1971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FD1333CB-59A1-E4BE-4739-1CA1A660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E147C2-A10D-59C4-CC48-6D69F1DA617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86AE55E-C7BC-EC71-C728-F72A80B86C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55CDC6F-9090-45B3-C7DF-1D1A5E390D2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B40FF7B-D30A-160F-9C8B-1003AE57EE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97083C73-43EE-6C29-DF37-8BDBD14592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FAAF6896-CE8D-11B6-CDB6-B5581B467D8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E952CC9-7B70-01FB-582B-30F68D4C3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18B1A-B52B-AC9A-63B1-F00217B38E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364" y="886968"/>
            <a:ext cx="11453639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50835-224A-C855-A540-11B95474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1" y="370063"/>
            <a:ext cx="11453639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6C828-337E-DF3F-E796-CD513517E4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5039018F-04C9-76F6-FBBC-358D2F0A10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0641CF8-17DD-D58B-57D0-93029446040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8C87661-3C9C-724E-425D-6BFB684FAA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1CA5D93-F653-F2C0-8751-8A90F765D4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59DA2641-90BA-C589-4AC5-93DB0472E7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004425" y="1924050"/>
            <a:ext cx="1819275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973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70062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4159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27490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46253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75774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999916" y="1933273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9822908B-8C98-3E38-BAF1-87309A19DE4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0C24A9A-AB7A-C92C-EABC-107D1A3E3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95525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BE33546-5281-3759-9C24-7C92D3AB81E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219575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D8F01FB-26C3-D412-CD60-13931D0A16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800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2D6BCE3-5DC0-F54B-0BF2-1E8CB838F9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7200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54D3D35-7293-9CD0-B576-44307004CC3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0004425" y="3492819"/>
            <a:ext cx="1819275" cy="2479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9919F7E4-902E-17BD-9A23-BEC353B5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883" y="-300748"/>
            <a:ext cx="5638005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40C10-F5A2-1E40-474D-C57EC62F0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39888" y="593396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2377" y="1306772"/>
            <a:ext cx="5668962" cy="373195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2B9EA5E-E423-D219-6037-CCB61AE3B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070464-B6E7-0612-AE11-56A546D97B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37465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4BAF2E-BAB1-C03F-41A7-B26DABB21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246096" y="2732672"/>
            <a:ext cx="941937" cy="6229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lnSpc>
                <a:spcPct val="8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Arial" panose="020B0604020202020204" pitchFamily="34" charset="0"/>
              </a:rPr>
              <a:t>“</a:t>
            </a:r>
            <a:endParaRPr lang="en-US" sz="600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062" y="3485571"/>
            <a:ext cx="5498502" cy="2486604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72355"/>
            <a:ext cx="5671662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32291E-24B4-2FB8-4B35-A439686DB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4716BEF-8A35-16AB-2612-D5ADC74B28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0276" y="5038725"/>
            <a:ext cx="5673424" cy="93345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34788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D1BEFAC-D99F-7020-6110-CD8460311A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 anchor="b" anchorCtr="0">
            <a:noAutofit/>
          </a:bodyPr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DFE5ED4-420E-CADB-A68A-A7D42128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EFB371-D664-A7CF-D5EE-BB0684D60FED}"/>
              </a:ext>
            </a:extLst>
          </p:cNvPr>
          <p:cNvSpPr txBox="1"/>
          <p:nvPr userDrawn="1"/>
        </p:nvSpPr>
        <p:spPr>
          <a:xfrm>
            <a:off x="6034838" y="299570"/>
            <a:ext cx="762000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700" marR="5080" lvl="0" indent="0" defTabSz="914400" eaLnBrk="1" fontAlgn="auto" latinLnBrk="0" hangingPunct="1"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800" b="1" u="none" strike="noStrike" kern="0" cap="none" spc="-105" normalizeH="0" baseline="0" noProof="0" dirty="0">
                <a:ln>
                  <a:noFill/>
                </a:ln>
                <a:solidFill>
                  <a:srgbClr val="FC5108"/>
                </a:solidFill>
                <a:effectLst/>
                <a:uLnTx/>
                <a:uFillTx/>
                <a:latin typeface="+mn-lt"/>
                <a:cs typeface="Arial" panose="020B0604020202020204" pitchFamily="34" charset="0"/>
              </a:rPr>
              <a:t>“</a:t>
            </a:r>
            <a:endParaRPr kumimoji="0" lang="en-US" sz="13800" b="1" u="none" strike="noStrike" kern="0" cap="none" spc="0" normalizeH="0" baseline="0" noProof="0" dirty="0">
              <a:ln>
                <a:noFill/>
              </a:ln>
              <a:solidFill>
                <a:srgbClr val="FC5108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  <a:p>
            <a:endParaRPr lang="en-US" sz="6000" b="1" dirty="0">
              <a:solidFill>
                <a:srgbClr val="FC5108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617E1E3-DEC2-78E7-9998-E4FF637CE3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51729" y="4005692"/>
            <a:ext cx="5455771" cy="921908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DF16A-3F0F-40AD-25BD-32F2F4A17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20F89DA-180E-8B5A-DBF0-E46D4BE19F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D27D-46ED-F893-79F1-23481FEA9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46CDA39-33E4-3C95-FE9D-6263CE3649C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2336" y="-300748"/>
            <a:ext cx="564127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77249-98B8-FACA-4ACE-60FB5325B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31972B4-0D39-C3FB-E17F-DC8EC7D118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663" y="-319682"/>
            <a:ext cx="5695950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/>
          <a:lstStyle>
            <a:lvl1pPr>
              <a:lnSpc>
                <a:spcPct val="100000"/>
              </a:lnSpc>
              <a:defRPr sz="66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3CF2F-7A33-6AA8-EBBC-3A558D724586}"/>
              </a:ext>
            </a:extLst>
          </p:cNvPr>
          <p:cNvSpPr txBox="1"/>
          <p:nvPr userDrawn="1"/>
        </p:nvSpPr>
        <p:spPr>
          <a:xfrm>
            <a:off x="394728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bg1"/>
                </a:solidFill>
              </a:rPr>
              <a:t>PwC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94593D8-AEB6-3CA5-7E3B-6BA6D55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748F1255-B234-8F3E-2E95-66C55731FF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  <a:latin typeface="+mj-lt"/>
              </a:defRPr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9010" y="3491244"/>
            <a:ext cx="4499480" cy="2458352"/>
          </a:xfrm>
        </p:spPr>
        <p:txBody>
          <a:bodyPr/>
          <a:lstStyle>
            <a:lvl1pPr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6" y="368299"/>
            <a:ext cx="6638214" cy="5603875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29E8A37-B7AE-34F5-AC2C-2C3307E45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84774" y="370062"/>
            <a:ext cx="6637163" cy="5562780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19E784-11F4-A104-BB77-5E8F8D39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1119A16-4429-1C3B-93F5-9356F9F7EC6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9888" y="2959100"/>
            <a:ext cx="3744912" cy="3013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2446693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65F8295-3C5A-A1AE-F43F-1FA6D8B2F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57550" y="368299"/>
            <a:ext cx="8566150" cy="5603875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FE9E2-DC3E-0EAB-DFB7-B3E4A12323B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300" y="3482975"/>
            <a:ext cx="2784475" cy="2489200"/>
          </a:xfrm>
        </p:spPr>
        <p:txBody>
          <a:bodyPr/>
          <a:lstStyle/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B293083-8587-219C-C524-D809D6A86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DBB20E5E-A5D8-1921-9B3B-F7258AF1BE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-300748"/>
            <a:ext cx="5643563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891325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</p:spPr>
        <p:txBody>
          <a:bodyPr/>
          <a:lstStyle>
            <a:lvl1pPr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defRPr sz="6600" b="0" spc="-5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88750FF-80B0-EEE6-F89F-A76248A4F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E8A4846-D27E-80FC-9B7E-3CE63CD42E9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4518025"/>
            <a:ext cx="4711700" cy="1562100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70062" y="3492183"/>
            <a:ext cx="3744738" cy="2479992"/>
          </a:xfrm>
        </p:spPr>
        <p:txBody>
          <a:bodyPr/>
          <a:lstStyle>
            <a:lvl1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08803"/>
            <a:ext cx="1804072" cy="1445521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65506"/>
            <a:ext cx="1804072" cy="1432559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tIns="45720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56C71D-1695-AE64-7C05-4DD0750A3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99292-477B-B167-FA09-34ABA37250D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112000" y="1406525"/>
            <a:ext cx="4711700" cy="144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096CD5-F472-2FF7-8821-A2FC9AB7EEC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112000" y="2966384"/>
            <a:ext cx="4711700" cy="144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E7B3D-67E9-63CB-5191-3A7FBCE6F83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112000" y="4520863"/>
            <a:ext cx="4711700" cy="144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EABDFC4-9BD0-55BC-2846-2FA45EAB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5126B4-5061-ACE1-29DB-F4E4B93050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6B0ED-8AF6-B2AA-E6DF-421FC9028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49975" y="3482975"/>
            <a:ext cx="5673725" cy="248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 dirty="0"/>
              <a:t>0,000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31506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71461" y="2443599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DD9F-C4DB-21BA-6151-16846D00A1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8301" y="3482975"/>
            <a:ext cx="3310128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EBB524E-5A84-8775-0998-D7CE79E36DC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26" y="3482975"/>
            <a:ext cx="3310128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B583A4-A0D5-B473-CEAF-7EDB869751B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71461" y="3482975"/>
            <a:ext cx="3310128" cy="259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FF63D470-D7BD-0CB6-AB02-AD298B18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062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710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53663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50DA203-9211-4FDA-05C5-46A210422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CEDE5A-24B5-302A-F9C9-38D8A4ED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4F1DDBE-5AF8-4AE5-035D-1455CB119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69888" y="3482975"/>
            <a:ext cx="2396050" cy="279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0506503A-B70F-E2C2-7E96-19228D38F7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71236" y="3482975"/>
            <a:ext cx="2396050" cy="279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Content Placeholder 15">
            <a:extLst>
              <a:ext uri="{FF2B5EF4-FFF2-40B4-BE49-F238E27FC236}">
                <a16:creationId xmlns:a16="http://schemas.microsoft.com/office/drawing/2014/main" id="{099901CA-C5DD-EA1C-B029-123F8C580614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49975" y="3482975"/>
            <a:ext cx="2396050" cy="279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Content Placeholder 15">
            <a:extLst>
              <a:ext uri="{FF2B5EF4-FFF2-40B4-BE49-F238E27FC236}">
                <a16:creationId xmlns:a16="http://schemas.microsoft.com/office/drawing/2014/main" id="{066BC0D1-1139-9685-3799-963F80B0C9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047405" y="3482975"/>
            <a:ext cx="2396050" cy="279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88305" y="1930138"/>
            <a:ext cx="5670195" cy="4042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72550-E933-8167-0222-DD1326B0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478187-E2B9-385E-A350-C3EAF7AF28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68300" y="3482975"/>
            <a:ext cx="3746500" cy="248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7127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0423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8340" y="1938393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35449-0894-A02C-8F55-DCFAB1AE4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A4954E-F516-8DC7-20A3-B649BF25576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B8FE92CD-7709-9DB8-6AAE-AA80F067440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67127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2951703-E32B-EAF8-80B8-BAFE647F14A4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1846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66FE3CF3-7037-DD51-3661-1034378DCD3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48340" y="4518025"/>
            <a:ext cx="2696610" cy="1562100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586" y="1924016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8300" y="4012229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5682" y="1927615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5682" y="4006850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4C67F-7F12-B485-C133-367619428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4995FEB-FD4F-B089-F6E6-2920F4574AB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924016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27422C95-30AE-DA35-26C7-4D859468EE8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4006850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EB8C9608-59D0-BF46-B719-9598B6A020E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5164" y="1924016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83B437C6-3E7C-2B00-379C-58EBBE522843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5164" y="4006850"/>
            <a:ext cx="2784475" cy="1965325"/>
          </a:xfrm>
        </p:spPr>
        <p:txBody>
          <a:bodyPr/>
          <a:lstStyle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88FCD4-650D-9754-A431-CE452572F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957033"/>
            <a:ext cx="6629400" cy="1482725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7150" y="4823926"/>
            <a:ext cx="6604325" cy="1655540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legal style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06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961864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157" y="1957425"/>
            <a:ext cx="5229304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7914" y="1930530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70157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2563232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0062" y="373155"/>
            <a:ext cx="11453638" cy="351622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062" y="4437010"/>
            <a:ext cx="5630031" cy="1541462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5493"/>
            <a:ext cx="4681536" cy="1541463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70850-E861-F5DA-10A1-A92566AB983E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6A229-FEBB-D152-453C-CB7311E22927}"/>
              </a:ext>
            </a:extLst>
          </p:cNvPr>
          <p:cNvSpPr txBox="1"/>
          <p:nvPr userDrawn="1"/>
        </p:nvSpPr>
        <p:spPr>
          <a:xfrm>
            <a:off x="36830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pwc.com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760CE5-544A-F30C-8082-D31FCC54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25B3EF-B02C-F8B5-CF3D-C9F9193AA5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8523288" cy="4048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5" r:id="rId5"/>
    <p:sldLayoutId id="2147483746" r:id="rId6"/>
    <p:sldLayoutId id="2147483651" r:id="rId7"/>
    <p:sldLayoutId id="2147483659" r:id="rId8"/>
    <p:sldLayoutId id="2147483660" r:id="rId9"/>
    <p:sldLayoutId id="2147483733" r:id="rId10"/>
    <p:sldLayoutId id="2147483738" r:id="rId11"/>
    <p:sldLayoutId id="2147483739" r:id="rId12"/>
    <p:sldLayoutId id="2147483741" r:id="rId13"/>
    <p:sldLayoutId id="2147483740" r:id="rId14"/>
    <p:sldLayoutId id="2147483696" r:id="rId15"/>
    <p:sldLayoutId id="2147483697" r:id="rId16"/>
    <p:sldLayoutId id="2147483723" r:id="rId17"/>
    <p:sldLayoutId id="2147483724" r:id="rId18"/>
    <p:sldLayoutId id="2147483702" r:id="rId19"/>
    <p:sldLayoutId id="2147483752" r:id="rId20"/>
    <p:sldLayoutId id="2147483684" r:id="rId21"/>
    <p:sldLayoutId id="2147483753" r:id="rId22"/>
    <p:sldLayoutId id="2147483703" r:id="rId23"/>
    <p:sldLayoutId id="2147483704" r:id="rId24"/>
    <p:sldLayoutId id="2147483705" r:id="rId25"/>
    <p:sldLayoutId id="2147483685" r:id="rId26"/>
    <p:sldLayoutId id="2147483754" r:id="rId27"/>
    <p:sldLayoutId id="2147483706" r:id="rId28"/>
    <p:sldLayoutId id="2147483719" r:id="rId29"/>
    <p:sldLayoutId id="2147483717" r:id="rId30"/>
    <p:sldLayoutId id="2147483718" r:id="rId31"/>
    <p:sldLayoutId id="2147483707" r:id="rId32"/>
    <p:sldLayoutId id="2147483708" r:id="rId33"/>
    <p:sldLayoutId id="2147483709" r:id="rId34"/>
    <p:sldLayoutId id="2147483686" r:id="rId35"/>
    <p:sldLayoutId id="2147483755" r:id="rId36"/>
    <p:sldLayoutId id="2147483722" r:id="rId37"/>
    <p:sldLayoutId id="2147483721" r:id="rId38"/>
    <p:sldLayoutId id="2147483714" r:id="rId39"/>
    <p:sldLayoutId id="2147483710" r:id="rId40"/>
    <p:sldLayoutId id="2147483711" r:id="rId41"/>
    <p:sldLayoutId id="2147483687" r:id="rId42"/>
    <p:sldLayoutId id="2147483756" r:id="rId43"/>
    <p:sldLayoutId id="2147483713" r:id="rId44"/>
    <p:sldLayoutId id="2147483662" r:id="rId45"/>
    <p:sldLayoutId id="2147483699" r:id="rId46"/>
    <p:sldLayoutId id="2147483689" r:id="rId47"/>
    <p:sldLayoutId id="2147483664" r:id="rId48"/>
    <p:sldLayoutId id="2147483690" r:id="rId49"/>
    <p:sldLayoutId id="2147483691" r:id="rId50"/>
    <p:sldLayoutId id="2147483692" r:id="rId51"/>
    <p:sldLayoutId id="2147483671" r:id="rId52"/>
    <p:sldLayoutId id="2147483700" r:id="rId53"/>
    <p:sldLayoutId id="2147483701" r:id="rId54"/>
    <p:sldLayoutId id="2147483693" r:id="rId55"/>
    <p:sldLayoutId id="2147483694" r:id="rId56"/>
    <p:sldLayoutId id="2147483673" r:id="rId57"/>
    <p:sldLayoutId id="2147483676" r:id="rId58"/>
    <p:sldLayoutId id="2147483715" r:id="rId59"/>
    <p:sldLayoutId id="2147483716" r:id="rId60"/>
    <p:sldLayoutId id="2147483678" r:id="rId61"/>
    <p:sldLayoutId id="2147483679" r:id="rId62"/>
    <p:sldLayoutId id="2147483680" r:id="rId63"/>
    <p:sldLayoutId id="2147483666" r:id="rId64"/>
    <p:sldLayoutId id="2147483720" r:id="rId65"/>
    <p:sldLayoutId id="2147483654" r:id="rId66"/>
    <p:sldLayoutId id="2147483655" r:id="rId67"/>
    <p:sldLayoutId id="2147483681" r:id="rId68"/>
    <p:sldLayoutId id="2147483725" r:id="rId69"/>
    <p:sldLayoutId id="2147483726" r:id="rId70"/>
    <p:sldLayoutId id="2147483727" r:id="rId71"/>
    <p:sldLayoutId id="2147483742" r:id="rId7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3" pos="232" userDrawn="1">
          <p15:clr>
            <a:srgbClr val="F26B43"/>
          </p15:clr>
        </p15:guide>
        <p15:guide id="4" pos="7448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  <p15:guide id="12" pos="778" userDrawn="1">
          <p15:clr>
            <a:srgbClr val="F26B43"/>
          </p15:clr>
        </p15:guide>
        <p15:guide id="13" pos="840" userDrawn="1">
          <p15:clr>
            <a:srgbClr val="F26B43"/>
          </p15:clr>
        </p15:guide>
        <p15:guide id="14" pos="1378" userDrawn="1">
          <p15:clr>
            <a:srgbClr val="F26B43"/>
          </p15:clr>
        </p15:guide>
        <p15:guide id="15" pos="1446" userDrawn="1">
          <p15:clr>
            <a:srgbClr val="F26B43"/>
          </p15:clr>
        </p15:guide>
        <p15:guide id="16" pos="1986" userDrawn="1">
          <p15:clr>
            <a:srgbClr val="F26B43"/>
          </p15:clr>
        </p15:guide>
        <p15:guide id="17" pos="2052" userDrawn="1">
          <p15:clr>
            <a:srgbClr val="F26B43"/>
          </p15:clr>
        </p15:guide>
        <p15:guide id="18" pos="2592" userDrawn="1">
          <p15:clr>
            <a:srgbClr val="F26B43"/>
          </p15:clr>
        </p15:guide>
        <p15:guide id="19" pos="2662" userDrawn="1">
          <p15:clr>
            <a:srgbClr val="F26B43"/>
          </p15:clr>
        </p15:guide>
        <p15:guide id="20" pos="3200" userDrawn="1">
          <p15:clr>
            <a:srgbClr val="F26B43"/>
          </p15:clr>
        </p15:guide>
        <p15:guide id="21" pos="3266" userDrawn="1">
          <p15:clr>
            <a:srgbClr val="F26B43"/>
          </p15:clr>
        </p15:guide>
        <p15:guide id="22" pos="3806" userDrawn="1">
          <p15:clr>
            <a:srgbClr val="F26B43"/>
          </p15:clr>
        </p15:guide>
        <p15:guide id="23" pos="3874" userDrawn="1">
          <p15:clr>
            <a:srgbClr val="F26B43"/>
          </p15:clr>
        </p15:guide>
        <p15:guide id="24" pos="4414" userDrawn="1">
          <p15:clr>
            <a:srgbClr val="F26B43"/>
          </p15:clr>
        </p15:guide>
        <p15:guide id="25" pos="5018" userDrawn="1">
          <p15:clr>
            <a:srgbClr val="F26B43"/>
          </p15:clr>
        </p15:guide>
        <p15:guide id="26" pos="4480" userDrawn="1">
          <p15:clr>
            <a:srgbClr val="F26B43"/>
          </p15:clr>
        </p15:guide>
        <p15:guide id="27" pos="5086" userDrawn="1">
          <p15:clr>
            <a:srgbClr val="F26B43"/>
          </p15:clr>
        </p15:guide>
        <p15:guide id="28" pos="5626" userDrawn="1">
          <p15:clr>
            <a:srgbClr val="F26B43"/>
          </p15:clr>
        </p15:guide>
        <p15:guide id="29" pos="5694" userDrawn="1">
          <p15:clr>
            <a:srgbClr val="F26B43"/>
          </p15:clr>
        </p15:guide>
        <p15:guide id="30" pos="6232" userDrawn="1">
          <p15:clr>
            <a:srgbClr val="F26B43"/>
          </p15:clr>
        </p15:guide>
        <p15:guide id="31" pos="6300" userDrawn="1">
          <p15:clr>
            <a:srgbClr val="F26B43"/>
          </p15:clr>
        </p15:guide>
        <p15:guide id="32" pos="6840" userDrawn="1">
          <p15:clr>
            <a:srgbClr val="F26B43"/>
          </p15:clr>
        </p15:guide>
        <p15:guide id="33" pos="6908" userDrawn="1">
          <p15:clr>
            <a:srgbClr val="F26B43"/>
          </p15:clr>
        </p15:guide>
        <p15:guide id="34" orient="horz" pos="488" userDrawn="1">
          <p15:clr>
            <a:srgbClr val="F26B43"/>
          </p15:clr>
        </p15:guide>
        <p15:guide id="35" orient="horz" pos="560" userDrawn="1">
          <p15:clr>
            <a:srgbClr val="F26B43"/>
          </p15:clr>
        </p15:guide>
        <p15:guide id="36" orient="horz" pos="816" userDrawn="1">
          <p15:clr>
            <a:srgbClr val="F26B43"/>
          </p15:clr>
        </p15:guide>
        <p15:guide id="37" orient="horz" pos="886" userDrawn="1">
          <p15:clr>
            <a:srgbClr val="F26B43"/>
          </p15:clr>
        </p15:guide>
        <p15:guide id="38" orient="horz" pos="1144" userDrawn="1">
          <p15:clr>
            <a:srgbClr val="F26B43"/>
          </p15:clr>
        </p15:guide>
        <p15:guide id="39" orient="horz" pos="1212" userDrawn="1">
          <p15:clr>
            <a:srgbClr val="F26B43"/>
          </p15:clr>
        </p15:guide>
        <p15:guide id="40" orient="horz" pos="1472" userDrawn="1">
          <p15:clr>
            <a:srgbClr val="F26B43"/>
          </p15:clr>
        </p15:guide>
        <p15:guide id="41" orient="horz" pos="1798" userDrawn="1">
          <p15:clr>
            <a:srgbClr val="F26B43"/>
          </p15:clr>
        </p15:guide>
        <p15:guide id="42" orient="horz" pos="1864" userDrawn="1">
          <p15:clr>
            <a:srgbClr val="F26B43"/>
          </p15:clr>
        </p15:guide>
        <p15:guide id="43" orient="horz" pos="2124" userDrawn="1">
          <p15:clr>
            <a:srgbClr val="F26B43"/>
          </p15:clr>
        </p15:guide>
        <p15:guide id="44" orient="horz" pos="2194" userDrawn="1">
          <p15:clr>
            <a:srgbClr val="F26B43"/>
          </p15:clr>
        </p15:guide>
        <p15:guide id="45" orient="horz" pos="2450" userDrawn="1">
          <p15:clr>
            <a:srgbClr val="F26B43"/>
          </p15:clr>
        </p15:guide>
        <p15:guide id="46" orient="horz" pos="2520" userDrawn="1">
          <p15:clr>
            <a:srgbClr val="F26B43"/>
          </p15:clr>
        </p15:guide>
        <p15:guide id="47" orient="horz" pos="2778" userDrawn="1">
          <p15:clr>
            <a:srgbClr val="F26B43"/>
          </p15:clr>
        </p15:guide>
        <p15:guide id="48" orient="horz" pos="2846" userDrawn="1">
          <p15:clr>
            <a:srgbClr val="F26B43"/>
          </p15:clr>
        </p15:guide>
        <p15:guide id="49" orient="horz" pos="3104" userDrawn="1">
          <p15:clr>
            <a:srgbClr val="F26B43"/>
          </p15:clr>
        </p15:guide>
        <p15:guide id="50" orient="horz" pos="3174" userDrawn="1">
          <p15:clr>
            <a:srgbClr val="F26B43"/>
          </p15:clr>
        </p15:guide>
        <p15:guide id="51" orient="horz" pos="3432" userDrawn="1">
          <p15:clr>
            <a:srgbClr val="F26B43"/>
          </p15:clr>
        </p15:guide>
        <p15:guide id="52" orient="horz" pos="3498" userDrawn="1">
          <p15:clr>
            <a:srgbClr val="F26B43"/>
          </p15:clr>
        </p15:guide>
        <p15:guide id="53" orient="horz" pos="3762" userDrawn="1">
          <p15:clr>
            <a:srgbClr val="F26B43"/>
          </p15:clr>
        </p15:guide>
        <p15:guide id="54" orient="horz" pos="3830" userDrawn="1">
          <p15:clr>
            <a:srgbClr val="F26B43"/>
          </p15:clr>
        </p15:guide>
        <p15:guide id="55" orient="horz" pos="153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Data Conversion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301" y="5532120"/>
            <a:ext cx="6949440" cy="960120"/>
          </a:xfrm>
        </p:spPr>
        <p:txBody>
          <a:bodyPr/>
          <a:lstStyle/>
          <a:p>
            <a:pPr/>
            <a:r>
              <a:rPr b="1"/>
              <a:t>Convert legacy data to Guidewire faster, with less effort and lower risk</a:t>
            </a:r>
          </a:p>
          <a:p>
            <a:pPr/>
            <a:r>
              <a:t>Data Migration Accelerator  ·  A business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188181" y="781004"/>
            <a:ext cx="5670320" cy="4206240"/>
          </a:xfrm>
        </p:spPr>
        <p:txBody>
          <a:bodyPr/>
          <a:lstStyle/>
          <a:p>
            <a:pPr marL="342900" indent="-342900"/>
            <a:r>
              <a:rPr b="1" sz="2200">
                <a:solidFill>
                  <a:srgbClr val="FD5108"/>
                </a:solidFill>
              </a:rPr>
              <a:t>1</a:t>
            </a:r>
            <a:r>
              <a:rPr b="0" sz="2200">
                <a:solidFill>
                  <a:srgbClr val="000000"/>
                </a:solidFill>
              </a:rPr>
              <a:t>	The challenge</a:t>
            </a:r>
          </a:p>
          <a:p>
            <a:pPr lvl="1" marL="342900" indent="0"/>
            <a:r>
              <a:rPr sz="1200"/>
              <a:t>Why converting legacy data to Guidewire is slow, costly and risky today.</a:t>
            </a:r>
          </a:p>
          <a:p>
            <a:pPr marL="342900" indent="-342900"/>
            <a:r>
              <a:rPr b="1" sz="2200">
                <a:solidFill>
                  <a:srgbClr val="FD5108"/>
                </a:solidFill>
              </a:rPr>
              <a:t>2</a:t>
            </a:r>
            <a:r>
              <a:rPr b="0" sz="2200">
                <a:solidFill>
                  <a:srgbClr val="000000"/>
                </a:solidFill>
              </a:rPr>
              <a:t>	The solution</a:t>
            </a:r>
          </a:p>
          <a:p>
            <a:pPr lvl="1" marL="342900" indent="0"/>
            <a:r>
              <a:rPr sz="1200"/>
              <a:t>What AI Data Conversion Studio is — in plain terms — and how it helps.</a:t>
            </a:r>
          </a:p>
          <a:p>
            <a:pPr marL="342900" indent="-342900"/>
            <a:r>
              <a:rPr b="1" sz="2200">
                <a:solidFill>
                  <a:srgbClr val="FD5108"/>
                </a:solidFill>
              </a:rPr>
              <a:t>3</a:t>
            </a:r>
            <a:r>
              <a:rPr b="0" sz="2200">
                <a:solidFill>
                  <a:srgbClr val="000000"/>
                </a:solidFill>
              </a:rPr>
              <a:t>	How it works</a:t>
            </a:r>
          </a:p>
          <a:p>
            <a:pPr lvl="1" marL="342900" indent="0"/>
            <a:r>
              <a:rPr sz="1200"/>
              <a:t>The guided, end-to-end journey from source data to a validated load.</a:t>
            </a:r>
          </a:p>
          <a:p>
            <a:pPr marL="342900" indent="-342900"/>
            <a:r>
              <a:rPr b="1" sz="2200">
                <a:solidFill>
                  <a:srgbClr val="FD5108"/>
                </a:solidFill>
              </a:rPr>
              <a:t>4</a:t>
            </a:r>
            <a:r>
              <a:rPr b="0" sz="2200">
                <a:solidFill>
                  <a:srgbClr val="000000"/>
                </a:solidFill>
              </a:rPr>
              <a:t>	The business value</a:t>
            </a:r>
          </a:p>
          <a:p>
            <a:pPr lvl="1" marL="342900" indent="0"/>
            <a:r>
              <a:rPr sz="1200"/>
              <a:t>Faster delivery, lower cost, higher quality and full control.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189DEE-6989-9A74-BDE8-CA73B9108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conversion is the riskiest part of a Guidewire program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400"/>
              <a:t>Moving decades of legacy policy, claims and billing data into Guidewire is where most time, cost and risk hide — and it is often what holds up go-live.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Slow and manual</a:t>
            </a:r>
          </a:p>
          <a:p>
            <a:pPr lvl="1"/>
            <a:r>
              <a:t>Analysts hand-map thousands of data fields in spreadsheets — weeks of effort that is hard to review and easy to get wrong.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t>Legacy data is a black box</a:t>
            </a:r>
          </a:p>
          <a:p>
            <a:pPr lvl="1"/>
            <a:r>
              <a:t>Source data arrives in many shapes and formats with little documentation on what each field actually means.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Costly rework</a:t>
            </a:r>
          </a:p>
          <a:p>
            <a:pPr lvl="1"/>
            <a:r>
              <a:t>Transformation logic is built by hand and drifts from the plan — small changes ripple into expensive rework.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t>Late surprises at go-live</a:t>
            </a:r>
          </a:p>
          <a:p>
            <a:pPr lvl="1"/>
            <a:r>
              <a:t>Duplicates, missing values and bad codes surface only after loading — forcing fire-drills close to go-live.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t>1,000s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t>Go-live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pPr/>
            <a:r>
              <a:t>of manual effort</a:t>
            </a:r>
          </a:p>
          <a:p>
            <a:pPr lvl="1"/>
            <a:r>
              <a:t>to map each source system, field by field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/>
            <a:r>
              <a:t>of fields</a:t>
            </a:r>
          </a:p>
          <a:p>
            <a:pPr lvl="1"/>
            <a:r>
              <a:t>to map, transform and review by hand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/>
            <a:r>
              <a:t>is when issues surface</a:t>
            </a:r>
          </a:p>
          <a:p>
            <a:pPr lvl="1"/>
            <a:r>
              <a:t>hidden data-quality problems appear at the worst possible time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doing it the old way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65760" y="1389888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latin typeface="Arial"/>
              </a:rPr>
              <a:t>Every manual step adds cost, delay and risk to the program — long before anyone sees whether the data is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349240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latin typeface="Arial"/>
              </a:rPr>
              <a:t>The bottom line: more effort does not mean more confidence — issues are still found late.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AI Data Conversion Studio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sz="1400"/>
              <a:t>A guided, AI-assisted workspace that turns legacy source data into Guidewire-ready data — faster, with your team firmly in control.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What it does for you</a:t>
            </a:r>
          </a:p>
          <a:p>
            <a:pPr lvl="1"/>
            <a:r>
              <a:t>Bring in your source data and your target — no matter the format.</a:t>
            </a:r>
          </a:p>
          <a:p>
            <a:pPr lvl="1"/>
            <a:r>
              <a:t>AI proposes the field-by-field mappings and transformation rules.</a:t>
            </a:r>
          </a:p>
          <a:p>
            <a:pPr lvl="1"/>
            <a:r>
              <a:t>Your experts review, refine and approve — nothing is a black box.</a:t>
            </a:r>
          </a:p>
          <a:p>
            <a:pPr lvl="1"/>
            <a:r>
              <a:t>The tool generates the code to move the data into the target.</a:t>
            </a:r>
          </a:p>
          <a:p>
            <a:pPr lvl="1"/>
            <a:r>
              <a:t>Data quality is checked against the target before go-live.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Speed</a:t>
            </a:r>
          </a:p>
          <a:p>
            <a:pPr lvl="1"/>
            <a:r>
              <a:t>First-draft mappings in minutes, not weeks</a:t>
            </a:r>
          </a:p>
          <a:p>
            <a:pPr/>
            <a:r>
              <a:t>Confidence</a:t>
            </a:r>
          </a:p>
          <a:p>
            <a:pPr lvl="1"/>
            <a:r>
              <a:t>Issues caught early, not at go-live</a:t>
            </a:r>
          </a:p>
          <a:p>
            <a:pPr/>
            <a:r>
              <a:t>Control</a:t>
            </a:r>
          </a:p>
          <a:p>
            <a:pPr lvl="1"/>
            <a:r>
              <a:t>People approve every mapping the AI suggests</a:t>
            </a:r>
          </a:p>
          <a:p>
            <a:pPr/>
            <a:r>
              <a:t>Traceability</a:t>
            </a:r>
          </a:p>
          <a:p>
            <a:pPr lvl="1"/>
            <a:r>
              <a:t>A complete record of every decision</a:t>
            </a:r>
          </a:p>
          <a:p>
            <a:pPr/>
            <a:r>
              <a:t>Consistency</a:t>
            </a:r>
          </a:p>
          <a:p>
            <a:pPr lvl="1"/>
            <a:r>
              <a:t>One repeatable way of working across clients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B51044C-932D-8FC3-B3AB-1F32819D3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fits in your migration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Your legacy data is prepared, transformed and loaded into Guidewire. The Studio is where the mapping and transformation work gets defined — the hard part.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1.  Your source data</a:t>
            </a:r>
          </a:p>
          <a:p>
            <a:pPr lvl="1"/>
            <a:r>
              <a:t>Policy · Claims · Billing</a:t>
            </a:r>
          </a:p>
          <a:p>
            <a:pPr lvl="1"/>
            <a:r>
              <a:t>Customer &amp; reference data</a:t>
            </a:r>
          </a:p>
          <a:p>
            <a:pPr lvl="1"/>
            <a:r>
              <a:t>Databases and files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t>2.  Prepare &amp; transform</a:t>
            </a:r>
          </a:p>
          <a:p>
            <a:pPr lvl="1"/>
            <a:r>
              <a:t>Organise the data</a:t>
            </a:r>
          </a:p>
          <a:p>
            <a:pPr lvl="1"/>
            <a:r>
              <a:t>Apply the mappings</a:t>
            </a:r>
          </a:p>
          <a:p>
            <a:pPr lvl="1"/>
            <a:r>
              <a:t>Ready it for the target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3.  Guidewire</a:t>
            </a:r>
          </a:p>
          <a:p>
            <a:pPr lvl="1"/>
            <a:r>
              <a:t>ClaimCenter · PolicyCenter</a:t>
            </a:r>
          </a:p>
          <a:p>
            <a:pPr lvl="1"/>
            <a:r>
              <a:t>Loaded &amp; reconciled</a:t>
            </a:r>
          </a:p>
          <a:p>
            <a:pPr lvl="1"/>
            <a:r>
              <a:t>Ready for business use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evron 6"/>
          <p:cNvSpPr/>
          <p:nvPr/>
        </p:nvSpPr>
        <p:spPr>
          <a:xfrm>
            <a:off x="3762756" y="2395728"/>
            <a:ext cx="310896" cy="310896"/>
          </a:xfrm>
          <a:prstGeom prst="chevron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hevron 7"/>
          <p:cNvSpPr/>
          <p:nvPr/>
        </p:nvSpPr>
        <p:spPr>
          <a:xfrm>
            <a:off x="7616952" y="2395728"/>
            <a:ext cx="310896" cy="310896"/>
          </a:xfrm>
          <a:prstGeom prst="chevron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760" y="3977639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latin typeface="Arial"/>
              </a:rPr>
              <a:t>AI Data Conversion Studio is where you define and approve the mappings, and generate what is needed to move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>
          <a:xfrm>
            <a:off x="365760" y="1929384"/>
            <a:ext cx="1545336" cy="1188720"/>
          </a:xfrm>
        </p:spPr>
        <p:txBody>
          <a:bodyPr/>
          <a:lstStyle/>
          <a:p>
            <a:r>
              <a:rPr sz="8000"/>
              <a:t>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>
          <a:xfrm>
            <a:off x="2016252" y="1929384"/>
            <a:ext cx="1545336" cy="1188720"/>
          </a:xfrm>
        </p:spPr>
        <p:txBody>
          <a:bodyPr/>
          <a:lstStyle/>
          <a:p>
            <a:r>
              <a:rPr sz="8000"/>
              <a:t>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/>
          </p:nvPr>
        </p:nvSpPr>
        <p:spPr>
          <a:xfrm>
            <a:off x="3666744" y="1929384"/>
            <a:ext cx="1545336" cy="1188720"/>
          </a:xfrm>
        </p:spPr>
        <p:txBody>
          <a:bodyPr/>
          <a:lstStyle/>
          <a:p>
            <a:r>
              <a:rPr sz="8000"/>
              <a:t>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>
          <a:xfrm>
            <a:off x="5317236" y="1929384"/>
            <a:ext cx="1545336" cy="1188720"/>
          </a:xfrm>
        </p:spPr>
        <p:txBody>
          <a:bodyPr/>
          <a:lstStyle/>
          <a:p>
            <a:r>
              <a:rPr sz="8000"/>
              <a:t>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/>
          </p:nvPr>
        </p:nvSpPr>
        <p:spPr>
          <a:xfrm>
            <a:off x="6967728" y="1929384"/>
            <a:ext cx="1545336" cy="1188720"/>
          </a:xfrm>
        </p:spPr>
        <p:txBody>
          <a:bodyPr/>
          <a:lstStyle/>
          <a:p>
            <a:r>
              <a:rPr sz="8000"/>
              <a:t>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/>
          </p:nvPr>
        </p:nvSpPr>
        <p:spPr>
          <a:xfrm>
            <a:off x="8618220" y="1929384"/>
            <a:ext cx="1545336" cy="1188720"/>
          </a:xfrm>
        </p:spPr>
        <p:txBody>
          <a:bodyPr/>
          <a:lstStyle/>
          <a:p>
            <a:r>
              <a:rPr sz="8000"/>
              <a:t>6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0" sz="quarter"/>
          </p:nvPr>
        </p:nvSpPr>
        <p:spPr>
          <a:xfrm>
            <a:off x="365760" y="3154680"/>
            <a:ext cx="1545336" cy="2788920"/>
          </a:xfrm>
        </p:spPr>
        <p:txBody>
          <a:bodyPr/>
          <a:lstStyle/>
          <a:p>
            <a:pPr/>
            <a:r>
              <a:rPr sz="1300"/>
              <a:t>Set up</a:t>
            </a:r>
          </a:p>
          <a:p>
            <a:pPr lvl="1"/>
            <a:r>
              <a:rPr sz="1050"/>
              <a:t>Bring in your source, the product reference and the target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1" sz="quarter"/>
          </p:nvPr>
        </p:nvSpPr>
        <p:spPr>
          <a:xfrm>
            <a:off x="2016252" y="3154680"/>
            <a:ext cx="1545336" cy="2788920"/>
          </a:xfrm>
        </p:spPr>
        <p:txBody>
          <a:bodyPr/>
          <a:lstStyle/>
          <a:p>
            <a:pPr/>
            <a:r>
              <a:rPr sz="1300"/>
              <a:t>Discover</a:t>
            </a:r>
          </a:p>
          <a:p>
            <a:pPr lvl="1"/>
            <a:r>
              <a:rPr sz="1050"/>
              <a:t>See what your data really contains before mapping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2" sz="quarter"/>
          </p:nvPr>
        </p:nvSpPr>
        <p:spPr>
          <a:xfrm>
            <a:off x="3666744" y="3154680"/>
            <a:ext cx="1545336" cy="2788920"/>
          </a:xfrm>
        </p:spPr>
        <p:txBody>
          <a:bodyPr/>
          <a:lstStyle/>
          <a:p>
            <a:pPr/>
            <a:r>
              <a:rPr sz="1300"/>
              <a:t>Map with AI</a:t>
            </a:r>
          </a:p>
          <a:p>
            <a:pPr lvl="1"/>
            <a:r>
              <a:rPr sz="1050"/>
              <a:t>AI drafts the mappings and code values; you approve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3" sz="quarter"/>
          </p:nvPr>
        </p:nvSpPr>
        <p:spPr>
          <a:xfrm>
            <a:off x="5317236" y="3154680"/>
            <a:ext cx="1545336" cy="2788920"/>
          </a:xfrm>
        </p:spPr>
        <p:txBody>
          <a:bodyPr/>
          <a:lstStyle/>
          <a:p>
            <a:pPr/>
            <a:r>
              <a:rPr sz="1300"/>
              <a:t>Build</a:t>
            </a:r>
          </a:p>
          <a:p>
            <a:pPr lvl="1"/>
            <a:r>
              <a:rPr sz="1050"/>
              <a:t>Generate the ETL code that moves the data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4" sz="quarter"/>
          </p:nvPr>
        </p:nvSpPr>
        <p:spPr>
          <a:xfrm>
            <a:off x="6967728" y="3154680"/>
            <a:ext cx="1545336" cy="2788920"/>
          </a:xfrm>
        </p:spPr>
        <p:txBody>
          <a:bodyPr/>
          <a:lstStyle/>
          <a:p>
            <a:pPr/>
            <a:r>
              <a:rPr sz="1300"/>
              <a:t>Validate</a:t>
            </a:r>
          </a:p>
          <a:p>
            <a:pPr lvl="1"/>
            <a:r>
              <a:rPr sz="1050"/>
              <a:t>Check the loaded data's quality against the target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21" sz="quarter"/>
          </p:nvPr>
        </p:nvSpPr>
        <p:spPr>
          <a:xfrm>
            <a:off x="8618220" y="3154680"/>
            <a:ext cx="1545336" cy="2788920"/>
          </a:xfrm>
        </p:spPr>
        <p:txBody>
          <a:bodyPr/>
          <a:lstStyle/>
          <a:p>
            <a:pPr/>
            <a:r>
              <a:rPr sz="1300"/>
              <a:t>Reconcile</a:t>
            </a:r>
          </a:p>
          <a:p>
            <a:pPr lvl="1"/>
            <a:r>
              <a:rPr sz="1050"/>
              <a:t>Ask questions of the data in plain English</a:t>
            </a: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guided journey, seven simple steps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53C0A1-993D-3C98-C331-16749B76A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22" name="Cloned Placeholder 22"/>
          <p:cNvSpPr>
            <a:spLocks noGrp="1"/>
          </p:cNvSpPr>
          <p:nvPr>
            <p:ph type="body" idx="22"/>
          </p:nvPr>
        </p:nvSpPr>
        <p:spPr>
          <a:xfrm>
            <a:off x="10268712" y="1929384"/>
            <a:ext cx="1545336" cy="1188720"/>
          </a:xfrm>
        </p:spPr>
        <p:txBody>
          <a:bodyPr/>
          <a:lstStyle/>
          <a:p>
            <a:r>
              <a:rPr sz="8000"/>
              <a:t>7</a:t>
            </a:r>
          </a:p>
        </p:txBody>
      </p:sp>
      <p:sp>
        <p:nvSpPr>
          <p:cNvPr id="923" name="Cloned Placeholder 23"/>
          <p:cNvSpPr>
            <a:spLocks noGrp="1"/>
          </p:cNvSpPr>
          <p:nvPr>
            <p:ph idx="23" sz="quarter"/>
          </p:nvPr>
        </p:nvSpPr>
        <p:spPr>
          <a:xfrm>
            <a:off x="10268712" y="3154680"/>
            <a:ext cx="1545336" cy="2788920"/>
          </a:xfrm>
        </p:spPr>
        <p:txBody>
          <a:bodyPr/>
          <a:lstStyle/>
          <a:p>
            <a:pPr/>
            <a:r>
              <a:rPr sz="1300"/>
              <a:t>Deliver</a:t>
            </a:r>
          </a:p>
          <a:p>
            <a:pPr lvl="1"/>
            <a:r>
              <a:rPr sz="1050"/>
              <a:t>Hand off, report and keep a full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What you can do  ·  Steps 1–2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up your data and understand 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sz="1300"/>
              <a:t>Know Your Data</a:t>
            </a:r>
          </a:p>
          <a:p>
            <a:pPr lvl="1"/>
            <a:r>
              <a:rPr sz="1100"/>
              <a:t>Upload your documents and simply ask questions about your data in plain language.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sz="1300"/>
              <a:t>Load the product reference</a:t>
            </a:r>
          </a:p>
          <a:p>
            <a:pPr lvl="1"/>
            <a:r>
              <a:rPr sz="1100"/>
              <a:t>Import the Guidewire dictionary and product schema so mappings land on real target tables and codes.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sz="1300"/>
              <a:t>Define the target</a:t>
            </a:r>
          </a:p>
          <a:p>
            <a:pPr lvl="1"/>
            <a:r>
              <a:rPr sz="1100"/>
              <a:t>Point the tool at your Guidewire target — a live database or a data dictionary — so mappings line up.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300"/>
              <a:t>Bring in any source</a:t>
            </a:r>
          </a:p>
          <a:p>
            <a:pPr lvl="1"/>
            <a:r>
              <a:rPr sz="1100"/>
              <a:t>Connect a database or upload files in almost any format — the tool reads the structure for you.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rPr sz="1300"/>
              <a:t>Explore the content</a:t>
            </a:r>
          </a:p>
          <a:p>
            <a:pPr lvl="1"/>
            <a:r>
              <a:rPr sz="1100"/>
              <a:t>Browse the tables and fields in your source data without needing a technical specialist.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/>
            <a:r>
              <a:rPr sz="1300"/>
              <a:t>Profile the quality</a:t>
            </a:r>
          </a:p>
          <a:p>
            <a:pPr lvl="1"/>
            <a:r>
              <a:rPr sz="1100"/>
              <a:t>See how complete and clean the real data is — before you commit to a mapping.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with AI — the heart of the tool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369364" y="886968"/>
            <a:ext cx="11453639" cy="868680"/>
          </a:xfrm>
        </p:spPr>
        <p:txBody>
          <a:bodyPr/>
          <a:lstStyle/>
          <a:p>
            <a:r>
              <a:rPr b="1" sz="1400"/>
              <a:t>AI drafts. You decide.  </a:t>
            </a:r>
            <a:r>
              <a:rPr b="0" sz="1400"/>
              <a:t>The AI proposes the field-by-field mappings and transformation rules in seconds. Your experts stay in control — reviewing, adjusting and approving every one, so the result is trusted, not guessed.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sz="1400"/>
              <a:t>AI mapping suggestions</a:t>
            </a:r>
          </a:p>
          <a:p>
            <a:pPr lvl="1"/>
            <a:r>
              <a:t>A first-draft of field mappings, transformation rules and joins for the tables you choose.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sz="1400"/>
              <a:t>Review workspace</a:t>
            </a:r>
          </a:p>
          <a:p>
            <a:pPr lvl="1"/>
            <a:r>
              <a:t>Approve, reject or edit each mapping in one place; every change is tracked.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sz="1400"/>
              <a:t>Lookup / code-value mapping</a:t>
            </a:r>
          </a:p>
          <a:p>
            <a:pPr lvl="1"/>
            <a:r>
              <a:t>Legacy codes are matched to the right Guidewire values, drawn from your live source data.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rPr sz="1400"/>
              <a:t>Built-in validation</a:t>
            </a:r>
          </a:p>
          <a:p>
            <a:pPr lvl="1"/>
            <a:r>
              <a:t>Mappings are checked for gaps, low-confidence guesses and type mismatches before you move on.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What you can do  ·  Steps 4–7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Build, validate, reconcile and deliver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sz="1300"/>
              <a:t>Generate the ETL code</a:t>
            </a:r>
          </a:p>
          <a:p>
            <a:pPr lvl="1"/>
            <a:r>
              <a:rPr sz="1100"/>
              <a:t>Turn approved mappings into a ready-to-run SQL build — tables and load procedures — then deploy it.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sz="1300"/>
              <a:t>Data-quality checks</a:t>
            </a:r>
          </a:p>
          <a:p>
            <a:pPr lvl="1"/>
            <a:r>
              <a:rPr sz="1100"/>
              <a:t>Test the loaded data for duplicates, missing values, bad codes and broken links — plus your own rules.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sz="1300"/>
              <a:t>Validation report</a:t>
            </a:r>
          </a:p>
          <a:p>
            <a:pPr lvl="1"/>
            <a:r>
              <a:rPr sz="1100"/>
              <a:t>See issues by type and table at a glance, and drill into the exact records that need attention.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300"/>
              <a:t>Reconcile in plain English</a:t>
            </a:r>
          </a:p>
          <a:p>
            <a:pPr lvl="1"/>
            <a:r>
              <a:rPr sz="1100"/>
              <a:t>Ask a question and get grounded, read-only SQL to check that counts and values match end to end.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rPr sz="1300"/>
              <a:t>Audit trail &amp; export</a:t>
            </a:r>
          </a:p>
          <a:p>
            <a:pPr lvl="1"/>
            <a:r>
              <a:rPr sz="1100"/>
              <a:t>Keep a full history of every change and export the mapping document to share or hand off.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>
            <a:pPr/>
            <a:r>
              <a:rPr sz="1300"/>
              <a:t>Progress &amp; usage</a:t>
            </a:r>
          </a:p>
          <a:p>
            <a:pPr lvl="1"/>
            <a:r>
              <a:rPr sz="1100"/>
              <a:t>Track project status and AI usage through clear, live dashboards.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rPr sz="1300"/>
              <a:t>Faster delivery</a:t>
            </a:r>
          </a:p>
          <a:p>
            <a:pPr lvl="1"/>
            <a:r>
              <a:rPr sz="1100"/>
              <a:t>First-draft mappings in minutes turn weeks of manual work into days.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rPr sz="1300"/>
              <a:t>Lower cost</a:t>
            </a:r>
          </a:p>
          <a:p>
            <a:pPr lvl="1"/>
            <a:r>
              <a:rPr sz="1100"/>
              <a:t>Fewer specialist hours and far less rework across the program.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rPr sz="1300"/>
              <a:t>Higher quality</a:t>
            </a:r>
          </a:p>
          <a:p>
            <a:pPr lvl="1"/>
            <a:r>
              <a:rPr sz="1100"/>
              <a:t>Data is validated against the target before go-live, not after.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300"/>
              <a:t>You stay in control</a:t>
            </a:r>
          </a:p>
          <a:p>
            <a:pPr lvl="1"/>
            <a:r>
              <a:rPr sz="1100"/>
              <a:t>AI accelerates the work; your people approve every decision.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 sz="quarter"/>
          </p:nvPr>
        </p:nvSpPr>
        <p:spPr/>
        <p:txBody>
          <a:bodyPr/>
          <a:lstStyle/>
          <a:p>
            <a:pPr/>
            <a:r>
              <a:rPr sz="1300"/>
              <a:t>Fully auditable</a:t>
            </a:r>
          </a:p>
          <a:p>
            <a:pPr lvl="1"/>
            <a:r>
              <a:rPr sz="1100"/>
              <a:t>Every mapping and change is tracked end-to-end for governance.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5" sz="quarter"/>
          </p:nvPr>
        </p:nvSpPr>
        <p:spPr/>
        <p:txBody>
          <a:bodyPr/>
          <a:lstStyle/>
          <a:p>
            <a:pPr/>
            <a:r>
              <a:rPr sz="1300"/>
              <a:t>Repeatable</a:t>
            </a:r>
          </a:p>
          <a:p>
            <a:pPr lvl="1"/>
            <a:r>
              <a:rPr sz="1100"/>
              <a:t>One consistent way of working across every client and source.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your business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C01FB3-8B1A-6F97-AB07-F4AF0F675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People stay in control</a:t>
            </a:r>
          </a:p>
          <a:p>
            <a:pPr lvl="1"/>
            <a:r>
              <a:t>AI suggests; your experts review and approve. Nothing is loaded on the AI's say-so alone.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t>A complete audit trail</a:t>
            </a:r>
          </a:p>
          <a:p>
            <a:pPr lvl="1"/>
            <a:r>
              <a:t>Who changed what, and when — captured across the whole project for full traceability.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Each client kept separate</a:t>
            </a:r>
          </a:p>
          <a:p>
            <a:pPr lvl="1"/>
            <a:r>
              <a:t>Every engagement's data is strictly isolated, so nothing crosses between clients.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Controlled access</a:t>
            </a:r>
          </a:p>
          <a:p>
            <a:pPr lvl="1"/>
            <a:r>
              <a:t>The tool is login-protected with administrator-managed users and permissions.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control and governance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outcomes you can expect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400"/>
              <a:t>By making mapping faster and validation earlier, the Studio de-risks the part of the program that most often slips.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Faster go-live</a:t>
            </a:r>
          </a:p>
          <a:p>
            <a:pPr lvl="1"/>
            <a:r>
              <a:t>Less time on mapping means the conversion stops being the bottleneck.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t>Fewer surprises</a:t>
            </a:r>
          </a:p>
          <a:p>
            <a:pPr lvl="1"/>
            <a:r>
              <a:t>Data issues are found and fixed early — not in the go-live weekend.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Confident conversion</a:t>
            </a:r>
          </a:p>
          <a:p>
            <a:pPr lvl="1"/>
            <a:r>
              <a:t>A clear, approved, auditable trail from source to target.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pPr/>
            <a:r>
              <a:t>Even faster on big sources</a:t>
            </a:r>
          </a:p>
          <a:p>
            <a:pPr lvl="1"/>
            <a:r>
              <a:t>Processing large data sources more quickly, so results come back sooner.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/>
            <a:r>
              <a:t>Handle bigger volumes</a:t>
            </a:r>
          </a:p>
          <a:p>
            <a:pPr lvl="1"/>
            <a:r>
              <a:t>Supporting ever-larger schemas and data sets with ease.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/>
            <a:r>
              <a:t>Smarter suggestions</a:t>
            </a:r>
          </a:p>
          <a:p>
            <a:pPr lvl="1"/>
            <a:r>
              <a:t>Continual improvements to the quality of the AI's mapping proposals.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t>Ongoing security hardening</a:t>
            </a:r>
          </a:p>
          <a:p>
            <a:pPr lvl="1"/>
            <a:r>
              <a:t>Continued investment to keep client data safe and access controlled.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taking it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4BACFA0-1865-CA7A-660A-9F840AA5E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AI Data Conversion Studio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AI Data Conversion Studio brings AI-assisted mapping, automated build and early data validation into one guided workflow — with your team in control at every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118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 i="0">
                <a:latin typeface="Georgia"/>
              </a:rPr>
              <a:t>From legacy data to Guidewire — faster, cleaner, with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7A6667E3-8F35-8049-97F2-2ABB7853D11F}" vid="{9EF29C9F-F5ED-C744-B55F-055EBB5FAD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11f47f-2d48-4444-b183-f954f114b01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CAF0351C4D054082DA0B0C46A5F20B" ma:contentTypeVersion="13" ma:contentTypeDescription="Create a new document." ma:contentTypeScope="" ma:versionID="1f3a09be14d0a1e061465b106db3c77a">
  <xsd:schema xmlns:xsd="http://www.w3.org/2001/XMLSchema" xmlns:xs="http://www.w3.org/2001/XMLSchema" xmlns:p="http://schemas.microsoft.com/office/2006/metadata/properties" xmlns:ns2="c011f47f-2d48-4444-b183-f954f114b012" targetNamespace="http://schemas.microsoft.com/office/2006/metadata/properties" ma:root="true" ma:fieldsID="8903e899b8d40abcde43b3a9b91d14e4" ns2:_="">
    <xsd:import namespace="c011f47f-2d48-4444-b183-f954f114b0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1f47f-2d48-4444-b183-f954f114b0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A758F2C-2961-4F3E-AF6C-A7AAF8C806B2}">
  <ds:schemaRefs>
    <ds:schemaRef ds:uri="http://schemas.microsoft.com/office/2006/metadata/properties"/>
    <ds:schemaRef ds:uri="http://schemas.microsoft.com/office/infopath/2007/PartnerControls"/>
    <ds:schemaRef ds:uri="c011f47f-2d48-4444-b183-f954f114b012"/>
  </ds:schemaRefs>
</ds:datastoreItem>
</file>

<file path=customXml/itemProps2.xml><?xml version="1.0" encoding="utf-8"?>
<ds:datastoreItem xmlns:ds="http://schemas.openxmlformats.org/officeDocument/2006/customXml" ds:itemID="{BC6C4AA5-9EB3-431C-B120-426EF90E76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11f47f-2d48-4444-b183-f954f114b0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 Slide Master</Template>
  <TotalTime>0</TotalTime>
  <Words>9734</Words>
  <Application>Microsoft Macintosh PowerPoint</Application>
  <PresentationFormat>Widescreen</PresentationFormat>
  <Paragraphs>1841</Paragraphs>
  <Slides>102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7" baseType="lpstr">
      <vt:lpstr>Arial</vt:lpstr>
      <vt:lpstr>Georgia</vt:lpstr>
      <vt:lpstr>Symbol</vt:lpstr>
      <vt:lpstr>Wingdings</vt:lpstr>
      <vt:lpstr>PwC Slide Master</vt:lpstr>
      <vt:lpstr>Cover slide    </vt:lpstr>
      <vt:lpstr>Cover slide image</vt:lpstr>
      <vt:lpstr>Title and content text goes here</vt:lpstr>
      <vt:lpstr>Divider title here lorem ipsum</vt:lpstr>
      <vt:lpstr>Divider title here lorem ipsum </vt:lpstr>
      <vt:lpstr>Divider title here lorem ipsum  </vt:lpstr>
      <vt:lpstr>Title for accessibility</vt:lpstr>
      <vt:lpstr>Title for accessibility     </vt:lpstr>
      <vt:lpstr>Title for accessibility           </vt:lpstr>
      <vt:lpstr>Title for accessibility                  </vt:lpstr>
      <vt:lpstr>Title for accessibility                                                </vt:lpstr>
      <vt:lpstr>Title for accessibility                           </vt:lpstr>
      <vt:lpstr>Title for accessibility                                           </vt:lpstr>
      <vt:lpstr>Content with image. Lorem ipsum dolor sit amet, consectetur adipiscing elit, sed diam nonummy nibh.</vt:lpstr>
      <vt:lpstr>Title for accessibility                                       </vt:lpstr>
      <vt:lpstr>Title for accessibility  </vt:lpstr>
      <vt:lpstr>Agenda</vt:lpstr>
      <vt:lpstr>Agenda </vt:lpstr>
      <vt:lpstr>Agenda  </vt:lpstr>
      <vt:lpstr>Agenda   </vt:lpstr>
      <vt:lpstr>Title for accessibility                                                   </vt:lpstr>
      <vt:lpstr>Content with image. Lorem ipsum dolor sit amet, consectetur adipiscing elit, sed diam nonummy nibh. </vt:lpstr>
      <vt:lpstr>Content with image</vt:lpstr>
      <vt:lpstr>Content  with image</vt:lpstr>
      <vt:lpstr>One content</vt:lpstr>
      <vt:lpstr>One content</vt:lpstr>
      <vt:lpstr>Two content</vt:lpstr>
      <vt:lpstr>Two content</vt:lpstr>
      <vt:lpstr>Two columns with images, lorem ipsum dolor sit amet, consectetur adipiscing elit sed diam</vt:lpstr>
      <vt:lpstr>Two columns with images, lorem ipsum dolor sit amet, consectetur adipiscing elit sed diam </vt:lpstr>
      <vt:lpstr>Two columns with images</vt:lpstr>
      <vt:lpstr>Three content</vt:lpstr>
      <vt:lpstr>Three content</vt:lpstr>
      <vt:lpstr>Three content </vt:lpstr>
      <vt:lpstr>Three content two small images</vt:lpstr>
      <vt:lpstr>Lorem ipsum dolor sit amet</vt:lpstr>
      <vt:lpstr>Three columns with images</vt:lpstr>
      <vt:lpstr>Three columns with images, lorem ipsum dolor sit amet, consect adipiscing elit </vt:lpstr>
      <vt:lpstr>Four content</vt:lpstr>
      <vt:lpstr>Four content</vt:lpstr>
      <vt:lpstr>Four content with images</vt:lpstr>
      <vt:lpstr>Four content with image</vt:lpstr>
      <vt:lpstr>Six content</vt:lpstr>
      <vt:lpstr>Six content</vt:lpstr>
      <vt:lpstr>Six content with numbers</vt:lpstr>
      <vt:lpstr>Six content, numbers, heavy text</vt:lpstr>
      <vt:lpstr>Pictograms</vt:lpstr>
      <vt:lpstr>Pictograms </vt:lpstr>
      <vt:lpstr>Pictograms    </vt:lpstr>
      <vt:lpstr>Pictograms       </vt:lpstr>
      <vt:lpstr>Text and large stat</vt:lpstr>
      <vt:lpstr>Four content infographic</vt:lpstr>
      <vt:lpstr>Three content infographic</vt:lpstr>
      <vt:lpstr>Data and two content</vt:lpstr>
      <vt:lpstr>Data and four stats</vt:lpstr>
      <vt:lpstr>Text and large stat  lorem ipsum dolor sit amet, consectetuer adipiscing elit </vt:lpstr>
      <vt:lpstr>Text and large stat lorem ipsum dolor sit amet, consectetuer adipiscing elit </vt:lpstr>
      <vt:lpstr>Chart and two content</vt:lpstr>
      <vt:lpstr>One column chart </vt:lpstr>
      <vt:lpstr>Three images three content</vt:lpstr>
      <vt:lpstr>Table slide sample</vt:lpstr>
      <vt:lpstr>Table slide sample </vt:lpstr>
      <vt:lpstr>Table slide sample   </vt:lpstr>
      <vt:lpstr>Table slide sample    </vt:lpstr>
      <vt:lpstr>Four team images</vt:lpstr>
      <vt:lpstr>Four team images stacked</vt:lpstr>
      <vt:lpstr>Icons</vt:lpstr>
      <vt:lpstr>Icon library</vt:lpstr>
      <vt:lpstr>Icon library</vt:lpstr>
      <vt:lpstr>Icon library</vt:lpstr>
      <vt:lpstr>Pictograms</vt:lpstr>
      <vt:lpstr>Pictogram library</vt:lpstr>
      <vt:lpstr>Pictogram library</vt:lpstr>
      <vt:lpstr>Pictogram library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Thank you</vt:lpstr>
      <vt:lpstr>Thank you</vt:lpstr>
      <vt:lpstr>Conclusion 1</vt:lpstr>
      <vt:lpstr>Conclusion 2</vt:lpstr>
      <vt:lpstr>Conclusion 3</vt:lpstr>
      <vt:lpstr>Conclusion Photo 1</vt:lpstr>
      <vt:lpstr>Training</vt:lpstr>
      <vt:lpstr>Colour palette</vt:lpstr>
      <vt:lpstr>12 x 12 grid</vt:lpstr>
      <vt:lpstr>How to create a chart template</vt:lpstr>
      <vt:lpstr>How to create charts  from a chart template</vt:lpstr>
      <vt:lpstr>Four brand table styles programmed in templates</vt:lpstr>
      <vt:lpstr>Table design style options  allow custom formats</vt:lpstr>
      <vt:lpstr>Four brand table styles  programmed in templates </vt:lpstr>
      <vt:lpstr>Brand table 1</vt:lpstr>
      <vt:lpstr>Brand table 2</vt:lpstr>
      <vt:lpstr>Brand table 3 </vt:lpstr>
      <vt:lpstr>Brand table 4</vt:lpstr>
      <vt:lpstr>Dashboard table sample slide</vt:lpstr>
      <vt:lpstr>Accessibility check</vt:lpstr>
      <vt:lpstr>PowerPoint keyboard shortcuts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 Ramanath (US)</dc:creator>
  <cp:lastModifiedBy>Karthik Ramanath (US)</cp:lastModifiedBy>
  <cp:revision>1</cp:revision>
  <dcterms:created xsi:type="dcterms:W3CDTF">2026-05-25T06:58:20Z</dcterms:created>
  <dcterms:modified xsi:type="dcterms:W3CDTF">2026-05-25T06:58:43Z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0x01010015CAF0351C4D054082DA0B0C46A5F20B</vt:lpwstr>
  </property>
</Properties>
</file>