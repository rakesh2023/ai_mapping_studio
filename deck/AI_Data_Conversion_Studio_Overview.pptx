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200000">
            <a:off x="8869680" y="4023360"/>
            <a:ext cx="4206240" cy="4206240"/>
          </a:xfrm>
          <a:prstGeom prst="roundRect">
            <a:avLst>
              <a:gd name="adj" fmla="val 8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200000">
            <a:off x="9966960" y="4663440"/>
            <a:ext cx="3291840" cy="3291840"/>
          </a:xfrm>
          <a:prstGeom prst="roundRect">
            <a:avLst>
              <a:gd name="adj" fmla="val 8000"/>
            </a:avLst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 rot="1200000">
            <a:off x="10698480" y="5212080"/>
            <a:ext cx="2377440" cy="2377440"/>
          </a:xfrm>
          <a:prstGeom prst="roundRect">
            <a:avLst>
              <a:gd name="adj" fmla="val 8000"/>
            </a:avLst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685800"/>
            <a:ext cx="178308" cy="178308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39546" y="685800"/>
            <a:ext cx="178308" cy="178308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93292" y="685800"/>
            <a:ext cx="178308" cy="178308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051560"/>
            <a:ext cx="9144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200">
                <a:solidFill>
                  <a:srgbClr val="FFB600"/>
                </a:solidFill>
                <a:latin typeface="Arial"/>
              </a:rPr>
              <a:t>PwC  ·  DATA MIGRATION ACCELERATOR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89611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5200" b="1">
                <a:solidFill>
                  <a:srgbClr val="FFFFFF"/>
                </a:solidFill>
                <a:latin typeface="Arial"/>
              </a:rPr>
              <a:t>AI Data
Conversion Studio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703320"/>
            <a:ext cx="7680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0">
                <a:solidFill>
                  <a:srgbClr val="D6D6D6"/>
                </a:solidFill>
                <a:latin typeface="Arial"/>
              </a:rPr>
              <a:t>Convert legacy data to Guidewire faster, with less effort and lower risk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58521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>
                <a:solidFill>
                  <a:srgbClr val="C9C9C9"/>
                </a:solidFill>
                <a:latin typeface="Arial"/>
              </a:rPr>
              <a:t>A business overview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What we will cover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751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B2B2B"/>
                </a:solidFill>
                <a:latin typeface="Arial"/>
              </a:rPr>
              <a:t>The challenge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2578608"/>
            <a:ext cx="4956048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Why converting legacy data to Guidewire is slow, costly and risky today.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0" y="20116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20116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0" y="19751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B2B2B"/>
                </a:solidFill>
                <a:latin typeface="Arial"/>
              </a:rPr>
              <a:t>The solution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20256" y="2578608"/>
            <a:ext cx="4956048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What AI Data Conversion Studio is — in plain terms — and how it helps.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88620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85800" y="40690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4440" y="40325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B2B2B"/>
                </a:solidFill>
                <a:latin typeface="Arial"/>
              </a:rPr>
              <a:t>How it works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" y="4636008"/>
            <a:ext cx="4956048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The guided, end-to-end journey from source data to a validated load.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886200"/>
            <a:ext cx="53949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0" y="4069080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406908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0" y="4032504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B2B2B"/>
                </a:solidFill>
                <a:latin typeface="Arial"/>
              </a:rPr>
              <a:t>The business 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0256" y="4636008"/>
            <a:ext cx="4956048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Faster delivery, lower cost, higher quality and full control.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Data conversion is the riskiest part of a Guidewire program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11155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5A5A5A"/>
                </a:solidFill>
                <a:latin typeface="Arial"/>
              </a:rPr>
              <a:t>Moving decades of legacy policy, claims and billing data into Guidewire is where most time, cost and risk hide — and it is often what holds up go-live.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286000"/>
            <a:ext cx="5394960" cy="1481328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22376" y="2523744"/>
            <a:ext cx="310896" cy="310896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5237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1288" y="2487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B2B2B"/>
                </a:solidFill>
                <a:latin typeface="Arial"/>
              </a:rPr>
              <a:t>Slow and manual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290779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Analysts hand-map thousands of data fields in spreadsheets — weeks of effort that is hard to review and easy to get wrong.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2286000"/>
            <a:ext cx="5394960" cy="1481328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20256" y="2523744"/>
            <a:ext cx="310896" cy="310896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52374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9168" y="2487168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B2B2B"/>
                </a:solidFill>
                <a:latin typeface="Arial"/>
              </a:rPr>
              <a:t>Legacy data is a black box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38544" y="2907792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Source data arrives in many shapes and formats with little documentation on what each field actually means.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4041648"/>
            <a:ext cx="5394960" cy="1481328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22376" y="4279392"/>
            <a:ext cx="310896" cy="310896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427939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61288" y="424281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B2B2B"/>
                </a:solidFill>
                <a:latin typeface="Arial"/>
              </a:rPr>
              <a:t>Costly rework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0664" y="466344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Transformation logic is built by hand and drifts from the plan — small changes ripple into expensive rework.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4041648"/>
            <a:ext cx="5394960" cy="1481328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620256" y="4279392"/>
            <a:ext cx="310896" cy="310896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20256" y="427939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242816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B2B2B"/>
                </a:solidFill>
                <a:latin typeface="Arial"/>
              </a:rPr>
              <a:t>Late surprises at go-live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38544" y="4663440"/>
            <a:ext cx="49377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Duplicates, missing values and bad codes surface only after loading — forcing fire-drills close to go-live.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THE CHALLENGE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The cost of doing it the old way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5A5A5A"/>
                </a:solidFill>
                <a:latin typeface="Arial"/>
              </a:rPr>
              <a:t>Every manual step adds cost, delay and risk to the program — long before anyone sees whether the data is right.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774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346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D04A02"/>
                </a:solidFill>
                <a:latin typeface="Arial"/>
              </a:rPr>
              <a:t>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3192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Arial"/>
              </a:rPr>
              <a:t>of manual effort to map each source system, field by field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3774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5736" y="28346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EB8C00"/>
                </a:solidFill>
                <a:latin typeface="Arial"/>
              </a:rPr>
              <a:t>1,000s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5736" y="393192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Arial"/>
              </a:rPr>
              <a:t>of fields to map, transform and review by hand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39912" y="2377440"/>
            <a:ext cx="3566160" cy="2743200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714232" y="2834640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800" b="1">
                <a:solidFill>
                  <a:srgbClr val="E0301E"/>
                </a:solidFill>
                <a:latin typeface="Arial"/>
              </a:rPr>
              <a:t>Go-live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14232" y="3931920"/>
            <a:ext cx="3017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>
                <a:solidFill>
                  <a:srgbClr val="2B2B2B"/>
                </a:solidFill>
                <a:latin typeface="Arial"/>
              </a:rPr>
              <a:t>when hidden data-quality issues typically surface — the worst time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532120"/>
            <a:ext cx="11183112" cy="640080"/>
          </a:xfrm>
          <a:prstGeom prst="roundRect">
            <a:avLst>
              <a:gd name="adj" fmla="val 12000"/>
            </a:avLst>
          </a:prstGeom>
          <a:solidFill>
            <a:srgbClr val="FDEEE4"/>
          </a:solidFill>
          <a:ln w="12700">
            <a:solidFill>
              <a:srgbClr val="F3C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553212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A83A00"/>
                </a:solidFill>
                <a:latin typeface="Arial"/>
              </a:rPr>
              <a:t>The bottom line:  </a:t>
            </a:r>
            <a:r>
              <a:rPr sz="1250" b="0">
                <a:solidFill>
                  <a:srgbClr val="2B2B2B"/>
                </a:solidFill>
                <a:latin typeface="Arial"/>
              </a:rPr>
              <a:t>more effort does not mean more confidence — issues are still found late.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THE SOLUTION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Meet AI Data Conversion Studio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691640"/>
            <a:ext cx="594360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B2B2B"/>
                </a:solidFill>
                <a:latin typeface="Arial"/>
              </a:rPr>
              <a:t>A guided, AI-assisted workspace that turns legacy source data into </a:t>
            </a:r>
            <a:r>
              <a:rPr sz="1400" b="1">
                <a:solidFill>
                  <a:srgbClr val="A83A00"/>
                </a:solidFill>
                <a:latin typeface="Arial"/>
              </a:rPr>
              <a:t>Guidewire-ready data</a:t>
            </a:r>
            <a:r>
              <a:rPr sz="1400" b="0">
                <a:solidFill>
                  <a:srgbClr val="2B2B2B"/>
                </a:solidFill>
                <a:latin typeface="Arial"/>
              </a:rPr>
              <a:t> — faster, with your team firmly in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78892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201168" indent="-201168">
              <a:lnSpc>
                <a:spcPct val="105000"/>
              </a:lnSpc>
              <a:spcAft>
                <a:spcPts val="900"/>
              </a:spcAft>
              <a:buClr>
                <a:srgbClr val="D04A02"/>
              </a:buClr>
              <a:buFont typeface="Arial"/>
              <a:buChar char="•"/>
            </a:pPr>
            <a:r>
              <a:rPr sz="1250" b="0">
                <a:solidFill>
                  <a:srgbClr val="5A5A5A"/>
                </a:solidFill>
                <a:latin typeface="Arial"/>
              </a:rPr>
              <a:t>Bring in your source data and your target — no matter the format.</a:t>
            </a:r>
          </a:p>
          <a:p>
            <a:pPr marL="201168" indent="-201168">
              <a:lnSpc>
                <a:spcPct val="105000"/>
              </a:lnSpc>
              <a:spcAft>
                <a:spcPts val="900"/>
              </a:spcAft>
              <a:buClr>
                <a:srgbClr val="D04A02"/>
              </a:buClr>
              <a:buFont typeface="Arial"/>
              <a:buChar char="•"/>
            </a:pPr>
            <a:r>
              <a:rPr sz="1250" b="0">
                <a:solidFill>
                  <a:srgbClr val="5A5A5A"/>
                </a:solidFill>
                <a:latin typeface="Arial"/>
              </a:rPr>
              <a:t>AI proposes the field-by-field mappings and transformation rules.</a:t>
            </a:r>
          </a:p>
          <a:p>
            <a:pPr marL="201168" indent="-201168">
              <a:lnSpc>
                <a:spcPct val="105000"/>
              </a:lnSpc>
              <a:spcAft>
                <a:spcPts val="900"/>
              </a:spcAft>
              <a:buClr>
                <a:srgbClr val="D04A02"/>
              </a:buClr>
              <a:buFont typeface="Arial"/>
              <a:buChar char="•"/>
            </a:pPr>
            <a:r>
              <a:rPr sz="1250" b="0">
                <a:solidFill>
                  <a:srgbClr val="5A5A5A"/>
                </a:solidFill>
                <a:latin typeface="Arial"/>
              </a:rPr>
              <a:t>Your experts review, refine and approve — nothing is a black box.</a:t>
            </a:r>
          </a:p>
          <a:p>
            <a:pPr marL="201168" indent="-201168">
              <a:lnSpc>
                <a:spcPct val="105000"/>
              </a:lnSpc>
              <a:spcAft>
                <a:spcPts val="900"/>
              </a:spcAft>
              <a:buClr>
                <a:srgbClr val="D04A02"/>
              </a:buClr>
              <a:buFont typeface="Arial"/>
              <a:buChar char="•"/>
            </a:pPr>
            <a:r>
              <a:rPr sz="1250" b="0">
                <a:solidFill>
                  <a:srgbClr val="5A5A5A"/>
                </a:solidFill>
                <a:latin typeface="Arial"/>
              </a:rPr>
              <a:t>The tool generates the code to move the data into the target.</a:t>
            </a:r>
          </a:p>
          <a:p>
            <a:pPr marL="201168" indent="-201168">
              <a:lnSpc>
                <a:spcPct val="105000"/>
              </a:lnSpc>
              <a:spcAft>
                <a:spcPts val="900"/>
              </a:spcAft>
              <a:buClr>
                <a:srgbClr val="D04A02"/>
              </a:buClr>
              <a:buFont typeface="Arial"/>
              <a:buChar char="•"/>
            </a:pPr>
            <a:r>
              <a:rPr sz="1250" b="0">
                <a:solidFill>
                  <a:srgbClr val="5A5A5A"/>
                </a:solidFill>
                <a:latin typeface="Arial"/>
              </a:rPr>
              <a:t>Data quality is checked against the target before go-live.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49440" y="1691640"/>
            <a:ext cx="4754880" cy="4160520"/>
          </a:xfrm>
          <a:prstGeom prst="roundRect">
            <a:avLst>
              <a:gd name="adj" fmla="val 5000"/>
            </a:avLst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69479" y="1920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FFB600"/>
                </a:solidFill>
                <a:latin typeface="Arial"/>
              </a:rPr>
              <a:t>What it does for you</a:t>
            </a:r>
          </a:p>
        </p:txBody>
      </p:sp>
      <p:sp>
        <p:nvSpPr>
          <p:cNvPr id="14" name="Oval 13"/>
          <p:cNvSpPr/>
          <p:nvPr/>
        </p:nvSpPr>
        <p:spPr>
          <a:xfrm>
            <a:off x="7269479" y="2450592"/>
            <a:ext cx="146304" cy="146304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16367" y="2350008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Speed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7" y="2615184"/>
            <a:ext cx="3886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9C9"/>
                </a:solidFill>
                <a:latin typeface="Arial"/>
              </a:rPr>
              <a:t>First-draft mappings in minutes, not weeks</a:t>
            </a:r>
          </a:p>
        </p:txBody>
      </p:sp>
      <p:sp>
        <p:nvSpPr>
          <p:cNvPr id="17" name="Oval 16"/>
          <p:cNvSpPr/>
          <p:nvPr/>
        </p:nvSpPr>
        <p:spPr>
          <a:xfrm>
            <a:off x="7269479" y="3118104"/>
            <a:ext cx="146304" cy="146304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16367" y="3017520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Confidence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16367" y="3282696"/>
            <a:ext cx="3886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9C9"/>
                </a:solidFill>
                <a:latin typeface="Arial"/>
              </a:rPr>
              <a:t>Issues caught early, not at go-live</a:t>
            </a:r>
          </a:p>
        </p:txBody>
      </p:sp>
      <p:sp>
        <p:nvSpPr>
          <p:cNvPr id="20" name="Oval 19"/>
          <p:cNvSpPr/>
          <p:nvPr/>
        </p:nvSpPr>
        <p:spPr>
          <a:xfrm>
            <a:off x="7269479" y="3785615"/>
            <a:ext cx="146304" cy="146304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16367" y="3685032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Control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16367" y="3950208"/>
            <a:ext cx="3886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9C9"/>
                </a:solidFill>
                <a:latin typeface="Arial"/>
              </a:rPr>
              <a:t>People approve every mapping the AI suggests</a:t>
            </a:r>
          </a:p>
        </p:txBody>
      </p:sp>
      <p:sp>
        <p:nvSpPr>
          <p:cNvPr id="23" name="Oval 22"/>
          <p:cNvSpPr/>
          <p:nvPr/>
        </p:nvSpPr>
        <p:spPr>
          <a:xfrm>
            <a:off x="7269479" y="4453128"/>
            <a:ext cx="146304" cy="146304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516367" y="4352544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Traceability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16367" y="4617720"/>
            <a:ext cx="3886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9C9"/>
                </a:solidFill>
                <a:latin typeface="Arial"/>
              </a:rPr>
              <a:t>A complete record of every decision</a:t>
            </a:r>
          </a:p>
        </p:txBody>
      </p:sp>
      <p:sp>
        <p:nvSpPr>
          <p:cNvPr id="26" name="Oval 25"/>
          <p:cNvSpPr/>
          <p:nvPr/>
        </p:nvSpPr>
        <p:spPr>
          <a:xfrm>
            <a:off x="7269479" y="5120640"/>
            <a:ext cx="146304" cy="146304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16367" y="5020056"/>
            <a:ext cx="3886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Arial"/>
              </a:rPr>
              <a:t>Consistency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7" y="5285232"/>
            <a:ext cx="38862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C9C9C9"/>
                </a:solidFill>
                <a:latin typeface="Arial"/>
              </a:rPr>
              <a:t>One repeatable way of working across clients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CONTEXT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Where it fits in your migration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0">
                <a:solidFill>
                  <a:srgbClr val="5A5A5A"/>
                </a:solidFill>
                <a:latin typeface="Arial"/>
              </a:rPr>
              <a:t>Your legacy data is prepared, transformed and loaded into Guidewire. The Studio is where the mapping and transformation work gets defined — the hard part.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468880"/>
            <a:ext cx="3246120" cy="2880360"/>
          </a:xfrm>
          <a:prstGeom prst="roundRect">
            <a:avLst>
              <a:gd name="adj" fmla="val 5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2468880"/>
            <a:ext cx="3246120" cy="502920"/>
          </a:xfrm>
          <a:prstGeom prst="roundRect">
            <a:avLst>
              <a:gd name="adj" fmla="val 8000"/>
            </a:avLst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46888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Your source data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7240" y="3200400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Policy · Claims · Billing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877056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877056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Customer &amp; reference data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553712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4553712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Databases and files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709159" y="2468880"/>
            <a:ext cx="3246120" cy="2880360"/>
          </a:xfrm>
          <a:prstGeom prst="roundRect">
            <a:avLst>
              <a:gd name="adj" fmla="val 5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709159" y="2468880"/>
            <a:ext cx="3246120" cy="502920"/>
          </a:xfrm>
          <a:prstGeom prst="roundRect">
            <a:avLst>
              <a:gd name="adj" fmla="val 8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709159" y="246888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Prepare &amp; transform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83479" y="3200400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199" y="320040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Organise the data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83479" y="3877056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199" y="3877056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Apply the mappings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983479" y="4553712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199" y="4553712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Ready it for the target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915400" y="2468880"/>
            <a:ext cx="3246120" cy="2880360"/>
          </a:xfrm>
          <a:prstGeom prst="roundRect">
            <a:avLst>
              <a:gd name="adj" fmla="val 5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915400" y="2468880"/>
            <a:ext cx="3246120" cy="50292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15400" y="2468880"/>
            <a:ext cx="32461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Guidewire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3200400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0" y="3200400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ClaimCenter · PolicyCenter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189720" y="3877056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0" y="3877056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Loaded &amp; reconciled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4553712"/>
            <a:ext cx="2697479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5440" y="4553712"/>
            <a:ext cx="2606039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2B2B2B"/>
                </a:solidFill>
                <a:latin typeface="Arial"/>
              </a:rPr>
              <a:t>Ready for business use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3904487" y="3707892"/>
            <a:ext cx="640080" cy="402336"/>
          </a:xfrm>
          <a:prstGeom prst="rightArrow">
            <a:avLst/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ight Arrow 38"/>
          <p:cNvSpPr/>
          <p:nvPr/>
        </p:nvSpPr>
        <p:spPr>
          <a:xfrm>
            <a:off x="8110727" y="3707892"/>
            <a:ext cx="640080" cy="402336"/>
          </a:xfrm>
          <a:prstGeom prst="rightArrow">
            <a:avLst/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02920" y="5669280"/>
            <a:ext cx="11183112" cy="658368"/>
          </a:xfrm>
          <a:prstGeom prst="roundRect">
            <a:avLst>
              <a:gd name="adj" fmla="val 12000"/>
            </a:avLst>
          </a:prstGeom>
          <a:solidFill>
            <a:srgbClr val="FDEEE4"/>
          </a:solidFill>
          <a:ln w="12700">
            <a:solidFill>
              <a:srgbClr val="F3C9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5669280"/>
            <a:ext cx="1078992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A83A00"/>
                </a:solidFill>
                <a:latin typeface="Arial"/>
              </a:rPr>
              <a:t>AI Data Conversion Studio  </a:t>
            </a:r>
            <a:r>
              <a:rPr sz="1150" b="0">
                <a:solidFill>
                  <a:srgbClr val="2B2B2B"/>
                </a:solidFill>
                <a:latin typeface="Arial"/>
              </a:rPr>
              <a:t>is where you define and approve the mappings and generate what is needed to move the data.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685800" y="640080"/>
            <a:ext cx="154533" cy="154533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05713" y="640080"/>
            <a:ext cx="154533" cy="154533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5626" y="640080"/>
            <a:ext cx="154533" cy="154533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00584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spc="200">
                <a:solidFill>
                  <a:srgbClr val="FFB600"/>
                </a:solidFill>
                <a:latin typeface="Arial"/>
              </a:rPr>
              <a:t>HOW IT WORKS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1298448"/>
            <a:ext cx="105156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One guided journey, six simple steps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286000"/>
            <a:ext cx="3529584" cy="1600200"/>
          </a:xfrm>
          <a:prstGeom prst="roundRect">
            <a:avLst>
              <a:gd name="adj" fmla="val 5000"/>
            </a:avLst>
          </a:prstGeom>
          <a:solidFill>
            <a:srgbClr val="2E2E2E"/>
          </a:solidFill>
          <a:ln w="1270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23544" y="2542032"/>
            <a:ext cx="420624" cy="420624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23544" y="254203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523744"/>
            <a:ext cx="2569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Set 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8960"/>
            <a:ext cx="30266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C9"/>
                </a:solidFill>
                <a:latin typeface="Arial"/>
              </a:rPr>
              <a:t>Bring in your source data and define the target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07992" y="2286000"/>
            <a:ext cx="3529584" cy="1600200"/>
          </a:xfrm>
          <a:prstGeom prst="roundRect">
            <a:avLst>
              <a:gd name="adj" fmla="val 5000"/>
            </a:avLst>
          </a:prstGeom>
          <a:solidFill>
            <a:srgbClr val="2E2E2E"/>
          </a:solidFill>
          <a:ln w="1270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745736" y="2542032"/>
            <a:ext cx="420624" cy="420624"/>
          </a:xfrm>
          <a:prstGeom prst="ellipse">
            <a:avLst/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45736" y="254203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85231" y="2523744"/>
            <a:ext cx="2569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Understand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64024" y="3108960"/>
            <a:ext cx="30266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C9"/>
                </a:solidFill>
                <a:latin typeface="Arial"/>
              </a:rPr>
              <a:t>See what your data really contains before mapping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330183" y="2286000"/>
            <a:ext cx="3529584" cy="1600200"/>
          </a:xfrm>
          <a:prstGeom prst="roundRect">
            <a:avLst>
              <a:gd name="adj" fmla="val 5000"/>
            </a:avLst>
          </a:prstGeom>
          <a:solidFill>
            <a:srgbClr val="2E2E2E"/>
          </a:solidFill>
          <a:ln w="1270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567928" y="2542032"/>
            <a:ext cx="420624" cy="420624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67928" y="2542032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2B2B2B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07424" y="2523744"/>
            <a:ext cx="2569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Map with AI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86215" y="3108960"/>
            <a:ext cx="30266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C9"/>
                </a:solidFill>
                <a:latin typeface="Arial"/>
              </a:rPr>
              <a:t>Let AI draft the mappings, then review and approve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178808"/>
            <a:ext cx="3529584" cy="1600200"/>
          </a:xfrm>
          <a:prstGeom prst="roundRect">
            <a:avLst>
              <a:gd name="adj" fmla="val 5000"/>
            </a:avLst>
          </a:prstGeom>
          <a:solidFill>
            <a:srgbClr val="2E2E2E"/>
          </a:solidFill>
          <a:ln w="1270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434840"/>
            <a:ext cx="420624" cy="420624"/>
          </a:xfrm>
          <a:prstGeom prst="ellipse">
            <a:avLst/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43484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63040" y="4416552"/>
            <a:ext cx="2569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Build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1832" y="5001768"/>
            <a:ext cx="30266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C9"/>
                </a:solidFill>
                <a:latin typeface="Arial"/>
              </a:rPr>
              <a:t>Generate what is needed to move the data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07992" y="4178808"/>
            <a:ext cx="3529584" cy="1600200"/>
          </a:xfrm>
          <a:prstGeom prst="roundRect">
            <a:avLst>
              <a:gd name="adj" fmla="val 5000"/>
            </a:avLst>
          </a:prstGeom>
          <a:solidFill>
            <a:srgbClr val="2E2E2E"/>
          </a:solidFill>
          <a:ln w="1270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4745736" y="4434840"/>
            <a:ext cx="420624" cy="420624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45736" y="443484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5231" y="4416552"/>
            <a:ext cx="2569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Validate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64024" y="5001768"/>
            <a:ext cx="30266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C9"/>
                </a:solidFill>
                <a:latin typeface="Arial"/>
              </a:rPr>
              <a:t>Check data quality against the target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330183" y="4178808"/>
            <a:ext cx="3529584" cy="1600200"/>
          </a:xfrm>
          <a:prstGeom prst="roundRect">
            <a:avLst>
              <a:gd name="adj" fmla="val 5000"/>
            </a:avLst>
          </a:prstGeom>
          <a:solidFill>
            <a:srgbClr val="2E2E2E"/>
          </a:solidFill>
          <a:ln w="12700">
            <a:solidFill>
              <a:srgbClr val="3D3D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567928" y="4434840"/>
            <a:ext cx="420624" cy="420624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567928" y="4434840"/>
            <a:ext cx="420624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07424" y="4416552"/>
            <a:ext cx="2569463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Arial"/>
              </a:rPr>
              <a:t>Deliver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86215" y="5001768"/>
            <a:ext cx="3026663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>
                <a:solidFill>
                  <a:srgbClr val="C9C9C9"/>
                </a:solidFill>
                <a:latin typeface="Arial"/>
              </a:rPr>
              <a:t>Hand off, report and keep a full audit trail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Arial"/>
              </a:rPr>
              <a:t>AI Data Conversion Studio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Arial"/>
              </a:rPr>
              <a:t>PwC  ·  Confidential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WHAT YOU CAN DO · STEPS 1–2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Prepare your data and understand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Know Your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Upload your documents and simply ask questions about your data in plain language.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7992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20116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Bring in any 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Connect a database or upload files in almost any format — the tool reads the structure for you.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7304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30183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3" y="20116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5672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Define the target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Point the tool at your Guidewire target so every mapping lines up with where the data must land.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Explore the content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Browse the tables and fields in your source data without needing a technical specialist.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07992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7992" y="40690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79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Profile the quality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4568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See how complete and clean the real data is — before you commit to a mapping.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47304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30183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C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0183" y="40690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5672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Work by client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Each client engagement is kept separate, so teams can work in parallel with confidence.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WHAT YOU CAN DO · STEP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Map with AI — the heart of the tool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3977639" cy="3977639"/>
          </a:xfrm>
          <a:prstGeom prst="roundRect">
            <a:avLst>
              <a:gd name="adj" fmla="val 5000"/>
            </a:avLst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48840"/>
            <a:ext cx="3474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FFB600"/>
                </a:solidFill>
                <a:latin typeface="Arial"/>
              </a:rPr>
              <a:t>AI drafts.
You decide.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91840"/>
            <a:ext cx="34747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>
                <a:solidFill>
                  <a:srgbClr val="D6D6D6"/>
                </a:solidFill>
                <a:latin typeface="Arial"/>
              </a:rPr>
              <a:t>The AI proposes the field-by-field mappings and transformation rules in seconds. Your experts stay in control — reviewing, adjusting and approving every one, so the result is trusted, not guessed.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54880" y="1828800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983480" y="2130552"/>
            <a:ext cx="310896" cy="310896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40680" y="1956816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Arial"/>
              </a:rPr>
              <a:t>AI mapping suggestions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0680" y="2286000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Get a complete first-draft mapping for the fields you choose — instantly.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754880" y="2852928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4983480" y="3154680"/>
            <a:ext cx="310896" cy="310896"/>
          </a:xfrm>
          <a:prstGeom prst="ellipse">
            <a:avLst/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40680" y="2980944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Arial"/>
              </a:rPr>
              <a:t>Review workspace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40680" y="3310128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Approve, reject or edit each mapping in one place; every change is tracked.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754880" y="3877056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983480" y="4178808"/>
            <a:ext cx="310896" cy="310896"/>
          </a:xfrm>
          <a:prstGeom prst="ellipse">
            <a:avLst/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4005072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Arial"/>
              </a:rPr>
              <a:t>Code-value matching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4334256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Legacy codes are matched to the right Guidewire values automatically.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754880" y="4901184"/>
            <a:ext cx="694944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4983480" y="5202936"/>
            <a:ext cx="310896" cy="310896"/>
          </a:xfrm>
          <a:prstGeom prst="ellipse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40680" y="5029200"/>
            <a:ext cx="6035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2B2B2B"/>
                </a:solidFill>
                <a:latin typeface="Arial"/>
              </a:rPr>
              <a:t>Built-in checks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40680" y="5358384"/>
            <a:ext cx="60350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>
                <a:solidFill>
                  <a:srgbClr val="5A5A5A"/>
                </a:solidFill>
                <a:latin typeface="Arial"/>
              </a:rPr>
              <a:t>The mappings are checked for gaps and low-confidence guesses before you move on.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WHAT YOU CAN DO · STEPS 4–6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Build, validate and deliver with confidence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0116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61288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Generate the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Turn approved mappings into ready-to-run code that moves the data into the target.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25112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7992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07992" y="20116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83479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One-click 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44568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Push the code to the target database and track whether it succeeds.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47304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330183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30183" y="20116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5672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Data-quality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Check the loaded data for duplicates, missing values, bad codes and broken links.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85800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0690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61288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Quality 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See issues at a glance and drill into the exact records that need attention.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25112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507992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07992" y="40690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83479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Audit trail &amp; export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44568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Keep a full history of every change and export the mapping document to share.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147304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8330183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C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330183" y="40690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</a:rPr>
              <a:t>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805672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Progress &amp; usage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66760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Track project status and AI usage through clear, live dashboards.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What this means for your business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11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61288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Faster delivery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First-draft mappings in minutes turn weeks of manual work into days.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07992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83479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Lower cost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44568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Fewer specialist hours and far less rework across the program.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18288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30183" y="20116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05672" y="19751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Higher quality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4871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Data is validated against the target before go-live, not after.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85800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61288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You stay in control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AI accelerates the work; your people approve every decision.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5112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507992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983479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Fully auditable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44568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Every mapping and change is tracked end-to-end for governance.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7304" y="3886200"/>
            <a:ext cx="3529584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330183" y="4069080"/>
            <a:ext cx="384048" cy="384048"/>
          </a:xfrm>
          <a:prstGeom prst="roundRect">
            <a:avLst>
              <a:gd name="adj" fmla="val 14000"/>
            </a:avLst>
          </a:prstGeom>
          <a:solidFill>
            <a:srgbClr val="C02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805672" y="4032504"/>
            <a:ext cx="2688336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50" b="1">
                <a:solidFill>
                  <a:srgbClr val="2B2B2B"/>
                </a:solidFill>
                <a:latin typeface="Arial"/>
              </a:rPr>
              <a:t>Repeatable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544568"/>
            <a:ext cx="3090672" cy="9966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60" b="0">
                <a:solidFill>
                  <a:srgbClr val="5A5A5A"/>
                </a:solidFill>
                <a:latin typeface="Arial"/>
              </a:rPr>
              <a:t>One consistent way of working across every client and source.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TRUST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Built for control and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12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20482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32104" y="21762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2011680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Arial"/>
              </a:rPr>
              <a:t>People stay in control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96896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>
                <a:solidFill>
                  <a:srgbClr val="5A5A5A"/>
                </a:solidFill>
                <a:latin typeface="Arial"/>
              </a:rPr>
              <a:t>AI suggests; your experts review and approve. Nothing is loaded on the AI's say-so alone.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18288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601968" y="2048256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729984" y="2176272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78040" y="2011680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Arial"/>
              </a:rPr>
              <a:t>A complete audit trail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38544" y="2596896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>
                <a:solidFill>
                  <a:srgbClr val="5A5A5A"/>
                </a:solidFill>
                <a:latin typeface="Arial"/>
              </a:rPr>
              <a:t>Who changed what, and when — captured across the whole project for full traceability.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904487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04088" y="41239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32104" y="4251959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80160" y="4087368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Arial"/>
              </a:rPr>
              <a:t>Each client kept separate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0664" y="4672583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>
                <a:solidFill>
                  <a:srgbClr val="5A5A5A"/>
                </a:solidFill>
                <a:latin typeface="Arial"/>
              </a:rPr>
              <a:t>Every engagement's data is strictly isolated, so nothing crosses between clients.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904487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601968" y="4123944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729984" y="4251959"/>
            <a:ext cx="201168" cy="201168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178040" y="4087368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Arial"/>
              </a:rPr>
              <a:t>Controlled access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38544" y="4672583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>
                <a:solidFill>
                  <a:srgbClr val="5A5A5A"/>
                </a:solidFill>
                <a:latin typeface="Arial"/>
              </a:rPr>
              <a:t>The tool is login-protected with administrator-managed users and permissions.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The outcomes you can expect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572768"/>
            <a:ext cx="111556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50" b="0">
                <a:solidFill>
                  <a:srgbClr val="5A5A5A"/>
                </a:solidFill>
                <a:latin typeface="Arial"/>
              </a:rPr>
              <a:t>By making mapping faster and validation earlier, the Studio de-risks the part of the program that most often slips.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33172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02920" y="2331720"/>
            <a:ext cx="3566160" cy="685800"/>
          </a:xfrm>
          <a:prstGeom prst="roundRect">
            <a:avLst>
              <a:gd name="adj" fmla="val 9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331720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Faster go-live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5528" y="3291839"/>
            <a:ext cx="298094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Less time on mapping means the conversion stops being the bottleneck.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471416" y="233172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471416" y="2331720"/>
            <a:ext cx="3566160" cy="685800"/>
          </a:xfrm>
          <a:prstGeom prst="roundRect">
            <a:avLst>
              <a:gd name="adj" fmla="val 9000"/>
            </a:avLst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71416" y="2331720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Fewer surprises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3291839"/>
            <a:ext cx="298094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Data issues are found and fixed early — not in the go-live weekend.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439912" y="2331720"/>
            <a:ext cx="3566160" cy="28346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439912" y="2331720"/>
            <a:ext cx="3566160" cy="685800"/>
          </a:xfrm>
          <a:prstGeom prst="roundRect">
            <a:avLst>
              <a:gd name="adj" fmla="val 9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912" y="2331720"/>
            <a:ext cx="356616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</a:rPr>
              <a:t>Confident conversion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32520" y="3291839"/>
            <a:ext cx="2980944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5A5A5A"/>
                </a:solidFill>
                <a:latin typeface="Arial"/>
              </a:rPr>
              <a:t>A clear, approved, auditable trail from source to target.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02920" y="457200"/>
            <a:ext cx="118872" cy="118872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672084" y="457200"/>
            <a:ext cx="118872" cy="118872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41248" y="457200"/>
            <a:ext cx="118872" cy="118872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58368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spc="200">
                <a:solidFill>
                  <a:srgbClr val="D04A02"/>
                </a:solidFill>
                <a:latin typeface="Arial"/>
              </a:rPr>
              <a:t>WHAT'S NEXT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914400"/>
            <a:ext cx="1124712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2B2B2B"/>
                </a:solidFill>
                <a:latin typeface="Arial"/>
              </a:rPr>
              <a:t>Where we are taking 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8A8A8A"/>
                </a:solidFill>
                <a:latin typeface="Arial"/>
              </a:rPr>
              <a:t>AI Data Conversion Studio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PwC  ·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8A8A8A"/>
                </a:solidFill>
                <a:latin typeface="Arial"/>
              </a:rPr>
              <a:t>14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8288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2029968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80160" y="2011680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Arial"/>
              </a:rPr>
              <a:t>Even faster on big sources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2596896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>
                <a:solidFill>
                  <a:srgbClr val="5A5A5A"/>
                </a:solidFill>
                <a:latin typeface="Arial"/>
              </a:rPr>
              <a:t>Processing large data sources more quickly, so results come back sooner.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828800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601968" y="2029968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EB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78040" y="2011680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Arial"/>
              </a:rPr>
              <a:t>Handle bigger volumes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38544" y="2596896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>
                <a:solidFill>
                  <a:srgbClr val="5A5A5A"/>
                </a:solidFill>
                <a:latin typeface="Arial"/>
              </a:rPr>
              <a:t>Supporting ever-larger schemas and data sets with ease.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904487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4088" y="4105655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17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0160" y="4087368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Arial"/>
              </a:rPr>
              <a:t>Smarter suggestions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672583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>
                <a:solidFill>
                  <a:srgbClr val="5A5A5A"/>
                </a:solidFill>
                <a:latin typeface="Arial"/>
              </a:rPr>
              <a:t>Continual improvements to the quality of the AI's mapping proposals.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3904487"/>
            <a:ext cx="5394960" cy="1783080"/>
          </a:xfrm>
          <a:prstGeom prst="roundRect">
            <a:avLst>
              <a:gd name="adj" fmla="val 6000"/>
            </a:avLst>
          </a:prstGeom>
          <a:solidFill>
            <a:srgbClr val="F6F3F0"/>
          </a:solidFill>
          <a:ln w="12700">
            <a:solidFill>
              <a:srgbClr val="E4D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01968" y="4105655"/>
            <a:ext cx="457200" cy="457200"/>
          </a:xfrm>
          <a:prstGeom prst="roundRect">
            <a:avLst>
              <a:gd name="adj" fmla="val 14000"/>
            </a:avLst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78040" y="4087368"/>
            <a:ext cx="443484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Arial"/>
              </a:rPr>
              <a:t>Ongoing security hardening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38544" y="4672583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0">
                <a:solidFill>
                  <a:srgbClr val="5A5A5A"/>
                </a:solidFill>
                <a:latin typeface="Arial"/>
              </a:rPr>
              <a:t>Continued investment to keep client data safe and access controlled.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C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 rot="1200000">
            <a:off x="-1371600" y="4206240"/>
            <a:ext cx="5029200" cy="5029200"/>
          </a:xfrm>
          <a:prstGeom prst="roundRect">
            <a:avLst>
              <a:gd name="adj" fmla="val 8000"/>
            </a:avLst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 rot="1200000">
            <a:off x="-548640" y="4937760"/>
            <a:ext cx="3657600" cy="3657600"/>
          </a:xfrm>
          <a:prstGeom prst="roundRect">
            <a:avLst>
              <a:gd name="adj" fmla="val 8000"/>
            </a:avLst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138160" y="685800"/>
            <a:ext cx="190195" cy="190195"/>
          </a:xfrm>
          <a:prstGeom prst="ellipse">
            <a:avLst/>
          </a:prstGeom>
          <a:solidFill>
            <a:srgbClr val="FFB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408822" y="685800"/>
            <a:ext cx="190195" cy="190195"/>
          </a:xfrm>
          <a:prstGeom prst="ellipse">
            <a:avLst/>
          </a:prstGeom>
          <a:solidFill>
            <a:srgbClr val="D04A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79484" y="685800"/>
            <a:ext cx="190195" cy="190195"/>
          </a:xfrm>
          <a:prstGeom prst="ellipse">
            <a:avLst/>
          </a:prstGeom>
          <a:solidFill>
            <a:srgbClr val="E030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023360" y="2148840"/>
            <a:ext cx="7680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Arial"/>
              </a:rPr>
              <a:t>From legacy data to Guidewire 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0" y="2743200"/>
            <a:ext cx="7680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FFB600"/>
                </a:solidFill>
                <a:latin typeface="Arial"/>
              </a:rPr>
              <a:t>faster, cleaner, with confidence.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41648" y="361188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D6D6D6"/>
                </a:solidFill>
                <a:latin typeface="Arial"/>
              </a:rPr>
              <a:t>AI Data Conversion Studio brings AI-assisted mapping, automated build and early data validation into one guided workflow — with your team in control at every step.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50292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9A9A9A"/>
                </a:solidFill>
                <a:latin typeface="Arial"/>
              </a:rPr>
              <a:t>AI Data Conversion Studio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08415" y="6473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Arial"/>
              </a:rPr>
              <a:t>PwC  ·  Confidential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31575" y="647395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>
                <a:solidFill>
                  <a:srgbClr val="9A9A9A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