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D24"/>
        </a:solidFill>
        <a:effectLst/>
      </p:bgPr>
    </p:bg>
    <p:spTree>
      <p:nvGrpSpPr>
        <p:cNvPr id="1" name=""/>
        <p:cNvGrpSpPr/>
        <p:nvPr/>
      </p:nvGrpSpPr>
      <p:grpSpPr/>
      <p:sp>
        <p:nvSpPr>
          <p:cNvPr id="2" name="TextBox 1"/>
          <p:cNvSpPr txBox="1"/>
          <p:nvPr/>
        </p:nvSpPr>
        <p:spPr>
          <a:xfrm>
            <a:off x="822960" y="1554480"/>
            <a:ext cx="10515600" cy="457200"/>
          </a:xfrm>
          <a:prstGeom prst="rect">
            <a:avLst/>
          </a:prstGeom>
          <a:noFill/>
        </p:spPr>
        <p:txBody>
          <a:bodyPr wrap="square" lIns="0" rIns="0" tIns="0" bIns="0">
            <a:spAutoFit/>
          </a:bodyPr>
          <a:lstStyle/>
          <a:p>
            <a:pPr algn="l">
              <a:spcAft>
                <a:spcPts val="0"/>
              </a:spcAft>
            </a:pPr>
            <a:r>
              <a:rPr sz="1400" b="1">
                <a:solidFill>
                  <a:srgbClr val="EB8C00"/>
                </a:solidFill>
                <a:latin typeface="Calibri"/>
              </a:rPr>
              <a:t>STAKEHOLDER OVERVIEW</a:t>
            </a:r>
          </a:p>
        </p:txBody>
      </p:sp>
      <p:sp>
        <p:nvSpPr>
          <p:cNvPr id="3" name="TextBox 2"/>
          <p:cNvSpPr txBox="1"/>
          <p:nvPr/>
        </p:nvSpPr>
        <p:spPr>
          <a:xfrm>
            <a:off x="822960" y="2057400"/>
            <a:ext cx="10515600" cy="2011680"/>
          </a:xfrm>
          <a:prstGeom prst="rect">
            <a:avLst/>
          </a:prstGeom>
          <a:noFill/>
        </p:spPr>
        <p:txBody>
          <a:bodyPr wrap="square" lIns="0" rIns="0" tIns="0" bIns="0">
            <a:spAutoFit/>
          </a:bodyPr>
          <a:lstStyle/>
          <a:p>
            <a:pPr algn="l">
              <a:spcAft>
                <a:spcPts val="600"/>
              </a:spcAft>
            </a:pPr>
            <a:r>
              <a:rPr sz="5400" b="1">
                <a:solidFill>
                  <a:srgbClr val="FFFFFF"/>
                </a:solidFill>
                <a:latin typeface="Calibri"/>
              </a:rPr>
              <a:t>AI Mapping Studio</a:t>
            </a:r>
          </a:p>
          <a:p>
            <a:pPr algn="l">
              <a:spcAft>
                <a:spcPts val="0"/>
              </a:spcAft>
            </a:pPr>
            <a:r>
              <a:rPr sz="2200" b="0">
                <a:solidFill>
                  <a:srgbClr val="C7CDD6"/>
                </a:solidFill>
                <a:latin typeface="Calibri"/>
              </a:rPr>
              <a:t>AI-assisted source-to-target data conversion mapping</a:t>
            </a:r>
          </a:p>
        </p:txBody>
      </p:sp>
      <p:sp>
        <p:nvSpPr>
          <p:cNvPr id="4" name="TextBox 3"/>
          <p:cNvSpPr txBox="1"/>
          <p:nvPr/>
        </p:nvSpPr>
        <p:spPr>
          <a:xfrm>
            <a:off x="822960" y="4663440"/>
            <a:ext cx="10515600" cy="548640"/>
          </a:xfrm>
          <a:prstGeom prst="rect">
            <a:avLst/>
          </a:prstGeom>
          <a:noFill/>
        </p:spPr>
        <p:txBody>
          <a:bodyPr wrap="square" lIns="0" rIns="0" tIns="0" bIns="0">
            <a:spAutoFit/>
          </a:bodyPr>
          <a:lstStyle/>
          <a:p>
            <a:pPr algn="l">
              <a:spcAft>
                <a:spcPts val="0"/>
              </a:spcAft>
            </a:pPr>
            <a:r>
              <a:rPr sz="1800" b="1">
                <a:solidFill>
                  <a:srgbClr val="EB8C00"/>
                </a:solidFill>
                <a:latin typeface="Calibri"/>
              </a:rPr>
              <a:t>Map  →  Review  →  Runnable SQL</a:t>
            </a:r>
          </a:p>
        </p:txBody>
      </p:sp>
      <p:sp>
        <p:nvSpPr>
          <p:cNvPr id="5" name="TextBox 4"/>
          <p:cNvSpPr txBox="1"/>
          <p:nvPr/>
        </p:nvSpPr>
        <p:spPr>
          <a:xfrm>
            <a:off x="822960" y="6126480"/>
            <a:ext cx="10515600" cy="457200"/>
          </a:xfrm>
          <a:prstGeom prst="rect">
            <a:avLst/>
          </a:prstGeom>
          <a:noFill/>
        </p:spPr>
        <p:txBody>
          <a:bodyPr wrap="square" lIns="0" rIns="0" tIns="0" bIns="0">
            <a:spAutoFit/>
          </a:bodyPr>
          <a:lstStyle/>
          <a:p>
            <a:pPr algn="l">
              <a:spcAft>
                <a:spcPts val="0"/>
              </a:spcAft>
            </a:pPr>
            <a:r>
              <a:rPr sz="1300" b="0">
                <a:solidFill>
                  <a:srgbClr val="8A93A2"/>
                </a:solidFill>
                <a:latin typeface="Calibri"/>
              </a:rPr>
              <a:t>AI drafts. Humans decide.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48640"/>
            <a:ext cx="10972800" cy="914400"/>
          </a:xfrm>
          <a:prstGeom prst="rect">
            <a:avLst/>
          </a:prstGeom>
          <a:noFill/>
        </p:spPr>
        <p:txBody>
          <a:bodyPr wrap="square" lIns="0" rIns="0" tIns="0" bIns="0">
            <a:spAutoFit/>
          </a:bodyPr>
          <a:lstStyle/>
          <a:p>
            <a:pPr algn="l">
              <a:spcAft>
                <a:spcPts val="0"/>
              </a:spcAft>
            </a:pPr>
            <a:r>
              <a:rPr sz="3400" b="1">
                <a:solidFill>
                  <a:srgbClr val="222529"/>
                </a:solidFill>
                <a:latin typeface="Calibri"/>
              </a:rPr>
              <a:t>Why AI Mapping Studio</a:t>
            </a:r>
          </a:p>
        </p:txBody>
      </p:sp>
      <p:sp>
        <p:nvSpPr>
          <p:cNvPr id="3" name="TextBox 2"/>
          <p:cNvSpPr txBox="1"/>
          <p:nvPr/>
        </p:nvSpPr>
        <p:spPr>
          <a:xfrm>
            <a:off x="640080" y="1737360"/>
            <a:ext cx="6126480" cy="4389120"/>
          </a:xfrm>
          <a:prstGeom prst="rect">
            <a:avLst/>
          </a:prstGeom>
          <a:noFill/>
        </p:spPr>
        <p:txBody>
          <a:bodyPr wrap="square" lIns="0" rIns="0" tIns="0" bIns="0">
            <a:spAutoFit/>
          </a:bodyPr>
          <a:lstStyle/>
          <a:p>
            <a:pPr algn="l">
              <a:spcAft>
                <a:spcPts val="600"/>
              </a:spcAft>
            </a:pPr>
            <a:r>
              <a:rPr sz="1500" b="1">
                <a:solidFill>
                  <a:srgbClr val="D04A02"/>
                </a:solidFill>
                <a:latin typeface="Calibri"/>
              </a:rPr>
              <a:t>The problem</a:t>
            </a:r>
          </a:p>
          <a:p>
            <a:pPr algn="l">
              <a:spcAft>
                <a:spcPts val="1400"/>
              </a:spcAft>
            </a:pPr>
            <a:r>
              <a:rPr sz="1600" b="0">
                <a:solidFill>
                  <a:srgbClr val="333A45"/>
                </a:solidFill>
                <a:latin typeface="Calibri"/>
              </a:rPr>
              <a:t>Every data conversion needs a column-level source-to-target mapping: for each target field, which source column feeds it, what transformation applies, and how keys and joins line up. Across hundreds of tables this is slow, manual, and easy to get wrong.</a:t>
            </a:r>
          </a:p>
          <a:p>
            <a:pPr algn="l">
              <a:spcAft>
                <a:spcPts val="600"/>
              </a:spcAft>
            </a:pPr>
            <a:r>
              <a:rPr sz="1500" b="1">
                <a:solidFill>
                  <a:srgbClr val="D04A02"/>
                </a:solidFill>
                <a:latin typeface="Calibri"/>
              </a:rPr>
              <a:t>What the tool does</a:t>
            </a:r>
          </a:p>
          <a:p>
            <a:pPr algn="l">
              <a:spcAft>
                <a:spcPts val="0"/>
              </a:spcAft>
            </a:pPr>
            <a:r>
              <a:rPr sz="1600" b="0">
                <a:solidFill>
                  <a:srgbClr val="333A45"/>
                </a:solidFill>
                <a:latin typeface="Calibri"/>
              </a:rPr>
              <a:t>AI proposes the mapping as a reviewable draft — the analyst approves, corrects and validates it — then it becomes runnable ETL SQL. A human stays in control at every step.</a:t>
            </a:r>
          </a:p>
        </p:txBody>
      </p:sp>
      <p:sp>
        <p:nvSpPr>
          <p:cNvPr id="4" name="Rounded Rectangle 3"/>
          <p:cNvSpPr/>
          <p:nvPr/>
        </p:nvSpPr>
        <p:spPr>
          <a:xfrm>
            <a:off x="7132320" y="1737360"/>
            <a:ext cx="4480560" cy="12344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Aft>
                <a:spcPts val="200"/>
              </a:spcAft>
            </a:pPr>
            <a:r>
              <a:rPr sz="2600" b="1">
                <a:solidFill>
                  <a:srgbClr val="D04A02"/>
                </a:solidFill>
                <a:latin typeface="Calibri"/>
              </a:rPr>
              <a:t>AI</a:t>
            </a:r>
          </a:p>
          <a:p>
            <a:pPr algn="l">
              <a:spcAft>
                <a:spcPts val="0"/>
              </a:spcAft>
            </a:pPr>
            <a:r>
              <a:rPr sz="1400" b="0">
                <a:solidFill>
                  <a:srgbClr val="4B5563"/>
                </a:solidFill>
                <a:latin typeface="Calibri"/>
              </a:rPr>
              <a:t>drafts every column mapping</a:t>
            </a:r>
          </a:p>
        </p:txBody>
      </p:sp>
      <p:sp>
        <p:nvSpPr>
          <p:cNvPr id="5" name="Rounded Rectangle 4"/>
          <p:cNvSpPr/>
          <p:nvPr/>
        </p:nvSpPr>
        <p:spPr>
          <a:xfrm>
            <a:off x="7132320" y="3182112"/>
            <a:ext cx="4480560" cy="12344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Aft>
                <a:spcPts val="200"/>
              </a:spcAft>
            </a:pPr>
            <a:r>
              <a:rPr sz="2600" b="1">
                <a:solidFill>
                  <a:srgbClr val="D04A02"/>
                </a:solidFill>
                <a:latin typeface="Calibri"/>
              </a:rPr>
              <a:t>0–100</a:t>
            </a:r>
          </a:p>
          <a:p>
            <a:pPr algn="l">
              <a:spcAft>
                <a:spcPts val="0"/>
              </a:spcAft>
            </a:pPr>
            <a:r>
              <a:rPr sz="1400" b="0">
                <a:solidFill>
                  <a:srgbClr val="4B5563"/>
                </a:solidFill>
                <a:latin typeface="Calibri"/>
              </a:rPr>
              <a:t>confidence score per mapping</a:t>
            </a:r>
          </a:p>
        </p:txBody>
      </p:sp>
      <p:sp>
        <p:nvSpPr>
          <p:cNvPr id="6" name="Rounded Rectangle 5"/>
          <p:cNvSpPr/>
          <p:nvPr/>
        </p:nvSpPr>
        <p:spPr>
          <a:xfrm>
            <a:off x="7132320" y="4626864"/>
            <a:ext cx="4480560" cy="12344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Aft>
                <a:spcPts val="200"/>
              </a:spcAft>
            </a:pPr>
            <a:r>
              <a:rPr sz="2600" b="1">
                <a:solidFill>
                  <a:srgbClr val="D04A02"/>
                </a:solidFill>
                <a:latin typeface="Calibri"/>
              </a:rPr>
              <a:t>Human</a:t>
            </a:r>
          </a:p>
          <a:p>
            <a:pPr algn="l">
              <a:spcAft>
                <a:spcPts val="0"/>
              </a:spcAft>
            </a:pPr>
            <a:r>
              <a:rPr sz="1400" b="0">
                <a:solidFill>
                  <a:srgbClr val="4B5563"/>
                </a:solidFill>
                <a:latin typeface="Calibri"/>
              </a:rPr>
              <a:t>reviews &amp; signs off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48640"/>
            <a:ext cx="10972800" cy="914400"/>
          </a:xfrm>
          <a:prstGeom prst="rect">
            <a:avLst/>
          </a:prstGeom>
          <a:noFill/>
        </p:spPr>
        <p:txBody>
          <a:bodyPr wrap="square" lIns="0" rIns="0" tIns="0" bIns="0">
            <a:spAutoFit/>
          </a:bodyPr>
          <a:lstStyle/>
          <a:p>
            <a:pPr algn="l">
              <a:spcAft>
                <a:spcPts val="0"/>
              </a:spcAft>
            </a:pPr>
            <a:r>
              <a:rPr sz="3400" b="1">
                <a:solidFill>
                  <a:srgbClr val="222529"/>
                </a:solidFill>
                <a:latin typeface="Calibri"/>
              </a:rPr>
              <a:t>How it works — end to end</a:t>
            </a:r>
          </a:p>
        </p:txBody>
      </p:sp>
      <p:sp>
        <p:nvSpPr>
          <p:cNvPr id="3" name="TextBox 2"/>
          <p:cNvSpPr txBox="1"/>
          <p:nvPr/>
        </p:nvSpPr>
        <p:spPr>
          <a:xfrm>
            <a:off x="640080" y="1417320"/>
            <a:ext cx="10972800" cy="457200"/>
          </a:xfrm>
          <a:prstGeom prst="rect">
            <a:avLst/>
          </a:prstGeom>
          <a:noFill/>
        </p:spPr>
        <p:txBody>
          <a:bodyPr wrap="square" lIns="0" rIns="0" tIns="0" bIns="0">
            <a:spAutoFit/>
          </a:bodyPr>
          <a:lstStyle/>
          <a:p>
            <a:pPr algn="l">
              <a:spcAft>
                <a:spcPts val="0"/>
              </a:spcAft>
            </a:pPr>
            <a:r>
              <a:rPr sz="1600" b="0">
                <a:solidFill>
                  <a:srgbClr val="6B7280"/>
                </a:solidFill>
                <a:latin typeface="Calibri"/>
              </a:rPr>
              <a:t>Eight steps from understanding the data to generating runnable SQL.</a:t>
            </a:r>
          </a:p>
        </p:txBody>
      </p:sp>
      <p:sp>
        <p:nvSpPr>
          <p:cNvPr id="4" name="Rounded Rectangle 3"/>
          <p:cNvSpPr/>
          <p:nvPr/>
        </p:nvSpPr>
        <p:spPr>
          <a:xfrm>
            <a:off x="640080" y="2286000"/>
            <a:ext cx="2514600" cy="160020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7" y="2505456"/>
            <a:ext cx="548640" cy="548640"/>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1</a:t>
            </a:r>
          </a:p>
        </p:txBody>
      </p:sp>
      <p:sp>
        <p:nvSpPr>
          <p:cNvPr id="6" name="TextBox 5"/>
          <p:cNvSpPr txBox="1"/>
          <p:nvPr/>
        </p:nvSpPr>
        <p:spPr>
          <a:xfrm>
            <a:off x="731519" y="3200400"/>
            <a:ext cx="2331720" cy="640080"/>
          </a:xfrm>
          <a:prstGeom prst="rect">
            <a:avLst/>
          </a:prstGeom>
          <a:noFill/>
        </p:spPr>
        <p:txBody>
          <a:bodyPr wrap="square" lIns="0" rIns="0" tIns="0" bIns="0">
            <a:spAutoFit/>
          </a:bodyPr>
          <a:lstStyle/>
          <a:p>
            <a:pPr algn="ctr">
              <a:spcAft>
                <a:spcPts val="0"/>
              </a:spcAft>
            </a:pPr>
            <a:r>
              <a:rPr sz="1400" b="1">
                <a:solidFill>
                  <a:srgbClr val="222529"/>
                </a:solidFill>
                <a:latin typeface="Calibri"/>
              </a:rPr>
              <a:t>Know Your Data</a:t>
            </a:r>
          </a:p>
        </p:txBody>
      </p:sp>
      <p:sp>
        <p:nvSpPr>
          <p:cNvPr id="7" name="Rounded Rectangle 6"/>
          <p:cNvSpPr/>
          <p:nvPr/>
        </p:nvSpPr>
        <p:spPr>
          <a:xfrm>
            <a:off x="3439058" y="2286000"/>
            <a:ext cx="2514600" cy="160020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640226" y="2505456"/>
            <a:ext cx="548640" cy="548640"/>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2</a:t>
            </a:r>
          </a:p>
        </p:txBody>
      </p:sp>
      <p:sp>
        <p:nvSpPr>
          <p:cNvPr id="9" name="TextBox 8"/>
          <p:cNvSpPr txBox="1"/>
          <p:nvPr/>
        </p:nvSpPr>
        <p:spPr>
          <a:xfrm>
            <a:off x="3530498" y="3200400"/>
            <a:ext cx="2331720" cy="640080"/>
          </a:xfrm>
          <a:prstGeom prst="rect">
            <a:avLst/>
          </a:prstGeom>
          <a:noFill/>
        </p:spPr>
        <p:txBody>
          <a:bodyPr wrap="square" lIns="0" rIns="0" tIns="0" bIns="0">
            <a:spAutoFit/>
          </a:bodyPr>
          <a:lstStyle/>
          <a:p>
            <a:pPr algn="ctr">
              <a:spcAft>
                <a:spcPts val="0"/>
              </a:spcAft>
            </a:pPr>
            <a:r>
              <a:rPr sz="1400" b="1">
                <a:solidFill>
                  <a:srgbClr val="222529"/>
                </a:solidFill>
                <a:latin typeface="Calibri"/>
              </a:rPr>
              <a:t>Source &amp; Target</a:t>
            </a:r>
          </a:p>
        </p:txBody>
      </p:sp>
      <p:sp>
        <p:nvSpPr>
          <p:cNvPr id="10" name="Rounded Rectangle 9"/>
          <p:cNvSpPr/>
          <p:nvPr/>
        </p:nvSpPr>
        <p:spPr>
          <a:xfrm>
            <a:off x="6238036" y="2286000"/>
            <a:ext cx="2514600" cy="160020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39204" y="2505456"/>
            <a:ext cx="548640" cy="548640"/>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3</a:t>
            </a:r>
          </a:p>
        </p:txBody>
      </p:sp>
      <p:sp>
        <p:nvSpPr>
          <p:cNvPr id="12" name="TextBox 11"/>
          <p:cNvSpPr txBox="1"/>
          <p:nvPr/>
        </p:nvSpPr>
        <p:spPr>
          <a:xfrm>
            <a:off x="6329476" y="3200400"/>
            <a:ext cx="2331720" cy="640080"/>
          </a:xfrm>
          <a:prstGeom prst="rect">
            <a:avLst/>
          </a:prstGeom>
          <a:noFill/>
        </p:spPr>
        <p:txBody>
          <a:bodyPr wrap="square" lIns="0" rIns="0" tIns="0" bIns="0">
            <a:spAutoFit/>
          </a:bodyPr>
          <a:lstStyle/>
          <a:p>
            <a:pPr algn="ctr">
              <a:spcAft>
                <a:spcPts val="0"/>
              </a:spcAft>
            </a:pPr>
            <a:r>
              <a:rPr sz="1400" b="1">
                <a:solidFill>
                  <a:srgbClr val="222529"/>
                </a:solidFill>
                <a:latin typeface="Calibri"/>
              </a:rPr>
              <a:t>Dictionary &amp; Schema</a:t>
            </a:r>
          </a:p>
        </p:txBody>
      </p:sp>
      <p:sp>
        <p:nvSpPr>
          <p:cNvPr id="13" name="Rounded Rectangle 12"/>
          <p:cNvSpPr/>
          <p:nvPr/>
        </p:nvSpPr>
        <p:spPr>
          <a:xfrm>
            <a:off x="9037015" y="2286000"/>
            <a:ext cx="2514600" cy="160020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238183" y="2505456"/>
            <a:ext cx="548640" cy="548640"/>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4</a:t>
            </a:r>
          </a:p>
        </p:txBody>
      </p:sp>
      <p:sp>
        <p:nvSpPr>
          <p:cNvPr id="15" name="TextBox 14"/>
          <p:cNvSpPr txBox="1"/>
          <p:nvPr/>
        </p:nvSpPr>
        <p:spPr>
          <a:xfrm>
            <a:off x="9128455" y="3200400"/>
            <a:ext cx="2331720" cy="640080"/>
          </a:xfrm>
          <a:prstGeom prst="rect">
            <a:avLst/>
          </a:prstGeom>
          <a:noFill/>
        </p:spPr>
        <p:txBody>
          <a:bodyPr wrap="square" lIns="0" rIns="0" tIns="0" bIns="0">
            <a:spAutoFit/>
          </a:bodyPr>
          <a:lstStyle/>
          <a:p>
            <a:pPr algn="ctr">
              <a:spcAft>
                <a:spcPts val="0"/>
              </a:spcAft>
            </a:pPr>
            <a:r>
              <a:rPr sz="1400" b="1">
                <a:solidFill>
                  <a:srgbClr val="222529"/>
                </a:solidFill>
                <a:latin typeface="Calibri"/>
              </a:rPr>
              <a:t>AI-fill Target</a:t>
            </a:r>
          </a:p>
        </p:txBody>
      </p:sp>
      <p:sp>
        <p:nvSpPr>
          <p:cNvPr id="16" name="Rounded Rectangle 15"/>
          <p:cNvSpPr/>
          <p:nvPr/>
        </p:nvSpPr>
        <p:spPr>
          <a:xfrm>
            <a:off x="640080" y="4160520"/>
            <a:ext cx="2514600" cy="160020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247" y="4379976"/>
            <a:ext cx="548640" cy="548640"/>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5</a:t>
            </a:r>
          </a:p>
        </p:txBody>
      </p:sp>
      <p:sp>
        <p:nvSpPr>
          <p:cNvPr id="18" name="TextBox 17"/>
          <p:cNvSpPr txBox="1"/>
          <p:nvPr/>
        </p:nvSpPr>
        <p:spPr>
          <a:xfrm>
            <a:off x="731519" y="5074920"/>
            <a:ext cx="2331720" cy="640080"/>
          </a:xfrm>
          <a:prstGeom prst="rect">
            <a:avLst/>
          </a:prstGeom>
          <a:noFill/>
        </p:spPr>
        <p:txBody>
          <a:bodyPr wrap="square" lIns="0" rIns="0" tIns="0" bIns="0">
            <a:spAutoFit/>
          </a:bodyPr>
          <a:lstStyle/>
          <a:p>
            <a:pPr algn="ctr">
              <a:spcAft>
                <a:spcPts val="0"/>
              </a:spcAft>
            </a:pPr>
            <a:r>
              <a:rPr sz="1400" b="1">
                <a:solidFill>
                  <a:srgbClr val="222529"/>
                </a:solidFill>
                <a:latin typeface="Calibri"/>
              </a:rPr>
              <a:t>Generate Mappings</a:t>
            </a:r>
          </a:p>
        </p:txBody>
      </p:sp>
      <p:sp>
        <p:nvSpPr>
          <p:cNvPr id="19" name="Rounded Rectangle 18"/>
          <p:cNvSpPr/>
          <p:nvPr/>
        </p:nvSpPr>
        <p:spPr>
          <a:xfrm>
            <a:off x="3439058" y="4160520"/>
            <a:ext cx="2514600" cy="160020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40226" y="4379976"/>
            <a:ext cx="548640" cy="548640"/>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6</a:t>
            </a:r>
          </a:p>
        </p:txBody>
      </p:sp>
      <p:sp>
        <p:nvSpPr>
          <p:cNvPr id="21" name="TextBox 20"/>
          <p:cNvSpPr txBox="1"/>
          <p:nvPr/>
        </p:nvSpPr>
        <p:spPr>
          <a:xfrm>
            <a:off x="3530498" y="5074920"/>
            <a:ext cx="2331720" cy="640080"/>
          </a:xfrm>
          <a:prstGeom prst="rect">
            <a:avLst/>
          </a:prstGeom>
          <a:noFill/>
        </p:spPr>
        <p:txBody>
          <a:bodyPr wrap="square" lIns="0" rIns="0" tIns="0" bIns="0">
            <a:spAutoFit/>
          </a:bodyPr>
          <a:lstStyle/>
          <a:p>
            <a:pPr algn="ctr">
              <a:spcAft>
                <a:spcPts val="0"/>
              </a:spcAft>
            </a:pPr>
            <a:r>
              <a:rPr sz="1400" b="1">
                <a:solidFill>
                  <a:srgbClr val="222529"/>
                </a:solidFill>
                <a:latin typeface="Calibri"/>
              </a:rPr>
              <a:t>Review &amp; Edit</a:t>
            </a:r>
          </a:p>
        </p:txBody>
      </p:sp>
      <p:sp>
        <p:nvSpPr>
          <p:cNvPr id="22" name="Rounded Rectangle 21"/>
          <p:cNvSpPr/>
          <p:nvPr/>
        </p:nvSpPr>
        <p:spPr>
          <a:xfrm>
            <a:off x="6238036" y="4160520"/>
            <a:ext cx="2514600" cy="160020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9204" y="4379976"/>
            <a:ext cx="548640" cy="548640"/>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7</a:t>
            </a:r>
          </a:p>
        </p:txBody>
      </p:sp>
      <p:sp>
        <p:nvSpPr>
          <p:cNvPr id="24" name="TextBox 23"/>
          <p:cNvSpPr txBox="1"/>
          <p:nvPr/>
        </p:nvSpPr>
        <p:spPr>
          <a:xfrm>
            <a:off x="6329476" y="5074920"/>
            <a:ext cx="2331720" cy="640080"/>
          </a:xfrm>
          <a:prstGeom prst="rect">
            <a:avLst/>
          </a:prstGeom>
          <a:noFill/>
        </p:spPr>
        <p:txBody>
          <a:bodyPr wrap="square" lIns="0" rIns="0" tIns="0" bIns="0">
            <a:spAutoFit/>
          </a:bodyPr>
          <a:lstStyle/>
          <a:p>
            <a:pPr algn="ctr">
              <a:spcAft>
                <a:spcPts val="0"/>
              </a:spcAft>
            </a:pPr>
            <a:r>
              <a:rPr sz="1400" b="1">
                <a:solidFill>
                  <a:srgbClr val="222529"/>
                </a:solidFill>
                <a:latin typeface="Calibri"/>
              </a:rPr>
              <a:t>Lookup Mapping</a:t>
            </a:r>
          </a:p>
        </p:txBody>
      </p:sp>
      <p:sp>
        <p:nvSpPr>
          <p:cNvPr id="25" name="Rounded Rectangle 24"/>
          <p:cNvSpPr/>
          <p:nvPr/>
        </p:nvSpPr>
        <p:spPr>
          <a:xfrm>
            <a:off x="9037015" y="4160520"/>
            <a:ext cx="2514600" cy="160020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38183" y="4379976"/>
            <a:ext cx="548640" cy="548640"/>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8</a:t>
            </a:r>
          </a:p>
        </p:txBody>
      </p:sp>
      <p:sp>
        <p:nvSpPr>
          <p:cNvPr id="27" name="TextBox 26"/>
          <p:cNvSpPr txBox="1"/>
          <p:nvPr/>
        </p:nvSpPr>
        <p:spPr>
          <a:xfrm>
            <a:off x="9128455" y="5074920"/>
            <a:ext cx="2331720" cy="640080"/>
          </a:xfrm>
          <a:prstGeom prst="rect">
            <a:avLst/>
          </a:prstGeom>
          <a:noFill/>
        </p:spPr>
        <p:txBody>
          <a:bodyPr wrap="square" lIns="0" rIns="0" tIns="0" bIns="0">
            <a:spAutoFit/>
          </a:bodyPr>
          <a:lstStyle/>
          <a:p>
            <a:pPr algn="ctr">
              <a:spcAft>
                <a:spcPts val="0"/>
              </a:spcAft>
            </a:pPr>
            <a:r>
              <a:rPr sz="1400" b="1">
                <a:solidFill>
                  <a:srgbClr val="222529"/>
                </a:solidFill>
                <a:latin typeface="Calibri"/>
              </a:rPr>
              <a:t>Validate &amp; ETL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658368" cy="658368"/>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1</a:t>
            </a:r>
          </a:p>
        </p:txBody>
      </p:sp>
      <p:sp>
        <p:nvSpPr>
          <p:cNvPr id="3" name="TextBox 2"/>
          <p:cNvSpPr txBox="1"/>
          <p:nvPr/>
        </p:nvSpPr>
        <p:spPr>
          <a:xfrm>
            <a:off x="1371600" y="502920"/>
            <a:ext cx="5486400" cy="365760"/>
          </a:xfrm>
          <a:prstGeom prst="rect">
            <a:avLst/>
          </a:prstGeom>
          <a:noFill/>
        </p:spPr>
        <p:txBody>
          <a:bodyPr wrap="square" lIns="0" rIns="0" tIns="0" bIns="0">
            <a:spAutoFit/>
          </a:bodyPr>
          <a:lstStyle/>
          <a:p>
            <a:pPr algn="l">
              <a:spcAft>
                <a:spcPts val="0"/>
              </a:spcAft>
            </a:pPr>
            <a:r>
              <a:rPr sz="1200" b="1">
                <a:solidFill>
                  <a:srgbClr val="D04A02"/>
                </a:solidFill>
                <a:latin typeface="Calibri"/>
              </a:rPr>
              <a:t>STEP 1 · KNOW YOUR DATA</a:t>
            </a:r>
          </a:p>
        </p:txBody>
      </p:sp>
      <p:sp>
        <p:nvSpPr>
          <p:cNvPr id="4" name="TextBox 3"/>
          <p:cNvSpPr txBox="1"/>
          <p:nvPr/>
        </p:nvSpPr>
        <p:spPr>
          <a:xfrm>
            <a:off x="1371600" y="868680"/>
            <a:ext cx="5486400" cy="1097280"/>
          </a:xfrm>
          <a:prstGeom prst="rect">
            <a:avLst/>
          </a:prstGeom>
          <a:noFill/>
        </p:spPr>
        <p:txBody>
          <a:bodyPr wrap="square" lIns="0" rIns="0" tIns="0" bIns="0">
            <a:spAutoFit/>
          </a:bodyPr>
          <a:lstStyle/>
          <a:p>
            <a:pPr algn="l">
              <a:spcAft>
                <a:spcPts val="0"/>
              </a:spcAft>
            </a:pPr>
            <a:r>
              <a:rPr sz="2800" b="1">
                <a:solidFill>
                  <a:srgbClr val="222529"/>
                </a:solidFill>
                <a:latin typeface="Calibri"/>
              </a:rPr>
              <a:t>Chat with your insurance documents.</a:t>
            </a:r>
          </a:p>
        </p:txBody>
      </p:sp>
      <p:sp>
        <p:nvSpPr>
          <p:cNvPr id="5" name="TextBox 4"/>
          <p:cNvSpPr txBox="1"/>
          <p:nvPr/>
        </p:nvSpPr>
        <p:spPr>
          <a:xfrm>
            <a:off x="640080" y="2331720"/>
            <a:ext cx="6035040" cy="4023360"/>
          </a:xfrm>
          <a:prstGeom prst="rect">
            <a:avLst/>
          </a:prstGeom>
          <a:noFill/>
        </p:spPr>
        <p:txBody>
          <a:bodyPr wrap="square" lIns="0" rIns="0" tIns="0" bIns="0">
            <a:spAutoFit/>
          </a:bodyPr>
          <a:lstStyle/>
          <a:p>
            <a:pPr algn="l">
              <a:spcAft>
                <a:spcPts val="1300"/>
              </a:spcAft>
            </a:pPr>
            <a:r>
              <a:rPr sz="1600" b="0">
                <a:solidFill>
                  <a:srgbClr val="333A45"/>
                </a:solidFill>
                <a:latin typeface="Calibri"/>
              </a:rPr>
              <a:t>•  Upload policies, claims, DDL or spreadsheets</a:t>
            </a:r>
          </a:p>
          <a:p>
            <a:pPr algn="l">
              <a:spcAft>
                <a:spcPts val="1300"/>
              </a:spcAft>
            </a:pPr>
            <a:r>
              <a:rPr sz="1600" b="0">
                <a:solidFill>
                  <a:srgbClr val="333A45"/>
                </a:solidFill>
                <a:latin typeface="Calibri"/>
              </a:rPr>
              <a:t>•  Ask questions in plain language — every answer cites its source</a:t>
            </a:r>
          </a:p>
          <a:p>
            <a:pPr algn="l">
              <a:spcAft>
                <a:spcPts val="1300"/>
              </a:spcAft>
            </a:pPr>
            <a:r>
              <a:rPr sz="1600" b="0">
                <a:solidFill>
                  <a:srgbClr val="333A45"/>
                </a:solidFill>
                <a:latin typeface="Calibri"/>
              </a:rPr>
              <a:t>•  Retrieval (RAG) over your own documents only</a:t>
            </a:r>
          </a:p>
          <a:p>
            <a:pPr algn="l">
              <a:spcAft>
                <a:spcPts val="1300"/>
              </a:spcAft>
            </a:pPr>
            <a:r>
              <a:rPr sz="1600" b="0">
                <a:solidFill>
                  <a:srgbClr val="333A45"/>
                </a:solidFill>
                <a:latin typeface="Calibri"/>
              </a:rPr>
              <a:t>•  Per-client and insurance-scoped — nothing leaks across clients</a:t>
            </a:r>
          </a:p>
        </p:txBody>
      </p:sp>
      <p:sp>
        <p:nvSpPr>
          <p:cNvPr id="6" name="Rounded Rectangle 5"/>
          <p:cNvSpPr/>
          <p:nvPr/>
        </p:nvSpPr>
        <p:spPr>
          <a:xfrm>
            <a:off x="7040880" y="1143000"/>
            <a:ext cx="4572000" cy="4983480"/>
          </a:xfrm>
          <a:prstGeom prst="roundRect">
            <a:avLst/>
          </a:prstGeom>
          <a:solidFill>
            <a:srgbClr val="EEF1F5"/>
          </a:solidFill>
          <a:ln w="15875">
            <a:solidFill>
              <a:srgbClr val="C3CA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A93A2"/>
                </a:solidFill>
                <a:latin typeface="Calibri"/>
              </a:rPr>
              <a:t>🖼  Screenshot</a:t>
            </a:r>
          </a:p>
          <a:p>
            <a:pPr algn="ctr">
              <a:spcAft>
                <a:spcPts val="0"/>
              </a:spcAft>
            </a:pPr>
            <a:r>
              <a:rPr sz="1200" b="0">
                <a:solidFill>
                  <a:srgbClr val="A0A8B4"/>
                </a:solidFill>
                <a:latin typeface="Calibri"/>
              </a:rPr>
              <a:t>Know Your Data — chat + cited answer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658368" cy="658368"/>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2</a:t>
            </a:r>
          </a:p>
        </p:txBody>
      </p:sp>
      <p:sp>
        <p:nvSpPr>
          <p:cNvPr id="3" name="TextBox 2"/>
          <p:cNvSpPr txBox="1"/>
          <p:nvPr/>
        </p:nvSpPr>
        <p:spPr>
          <a:xfrm>
            <a:off x="1371600" y="502920"/>
            <a:ext cx="5486400" cy="365760"/>
          </a:xfrm>
          <a:prstGeom prst="rect">
            <a:avLst/>
          </a:prstGeom>
          <a:noFill/>
        </p:spPr>
        <p:txBody>
          <a:bodyPr wrap="square" lIns="0" rIns="0" tIns="0" bIns="0">
            <a:spAutoFit/>
          </a:bodyPr>
          <a:lstStyle/>
          <a:p>
            <a:pPr algn="l">
              <a:spcAft>
                <a:spcPts val="0"/>
              </a:spcAft>
            </a:pPr>
            <a:r>
              <a:rPr sz="1200" b="1">
                <a:solidFill>
                  <a:srgbClr val="D04A02"/>
                </a:solidFill>
                <a:latin typeface="Calibri"/>
              </a:rPr>
              <a:t>STEP 2 · SOURCE &amp; TARGET</a:t>
            </a:r>
          </a:p>
        </p:txBody>
      </p:sp>
      <p:sp>
        <p:nvSpPr>
          <p:cNvPr id="4" name="TextBox 3"/>
          <p:cNvSpPr txBox="1"/>
          <p:nvPr/>
        </p:nvSpPr>
        <p:spPr>
          <a:xfrm>
            <a:off x="1371600" y="868680"/>
            <a:ext cx="5486400" cy="1097280"/>
          </a:xfrm>
          <a:prstGeom prst="rect">
            <a:avLst/>
          </a:prstGeom>
          <a:noFill/>
        </p:spPr>
        <p:txBody>
          <a:bodyPr wrap="square" lIns="0" rIns="0" tIns="0" bIns="0">
            <a:spAutoFit/>
          </a:bodyPr>
          <a:lstStyle/>
          <a:p>
            <a:pPr algn="l">
              <a:spcAft>
                <a:spcPts val="0"/>
              </a:spcAft>
            </a:pPr>
            <a:r>
              <a:rPr sz="2800" b="1">
                <a:solidFill>
                  <a:srgbClr val="222529"/>
                </a:solidFill>
                <a:latin typeface="Calibri"/>
              </a:rPr>
              <a:t>Connect where data comes from and goes to.</a:t>
            </a:r>
          </a:p>
        </p:txBody>
      </p:sp>
      <p:sp>
        <p:nvSpPr>
          <p:cNvPr id="5" name="TextBox 4"/>
          <p:cNvSpPr txBox="1"/>
          <p:nvPr/>
        </p:nvSpPr>
        <p:spPr>
          <a:xfrm>
            <a:off x="640080" y="2331720"/>
            <a:ext cx="6035040" cy="4023360"/>
          </a:xfrm>
          <a:prstGeom prst="rect">
            <a:avLst/>
          </a:prstGeom>
          <a:noFill/>
        </p:spPr>
        <p:txBody>
          <a:bodyPr wrap="square" lIns="0" rIns="0" tIns="0" bIns="0">
            <a:spAutoFit/>
          </a:bodyPr>
          <a:lstStyle/>
          <a:p>
            <a:pPr algn="l">
              <a:spcAft>
                <a:spcPts val="1300"/>
              </a:spcAft>
            </a:pPr>
            <a:r>
              <a:rPr sz="1600" b="0">
                <a:solidFill>
                  <a:srgbClr val="333A45"/>
                </a:solidFill>
                <a:latin typeface="Calibri"/>
              </a:rPr>
              <a:t>•  Live SQL Server, or upload a file (schema / dictionary / DDL)</a:t>
            </a:r>
          </a:p>
          <a:p>
            <a:pPr algn="l">
              <a:spcAft>
                <a:spcPts val="1300"/>
              </a:spcAft>
            </a:pPr>
            <a:r>
              <a:rPr sz="1600" b="0">
                <a:solidFill>
                  <a:srgbClr val="333A45"/>
                </a:solidFill>
                <a:latin typeface="Calibri"/>
              </a:rPr>
              <a:t>•  One active target schema drives the whole application</a:t>
            </a:r>
          </a:p>
          <a:p>
            <a:pPr algn="l">
              <a:spcAft>
                <a:spcPts val="1300"/>
              </a:spcAft>
            </a:pPr>
            <a:r>
              <a:rPr sz="1600" b="0">
                <a:solidFill>
                  <a:srgbClr val="333A45"/>
                </a:solidFill>
                <a:latin typeface="Calibri"/>
              </a:rPr>
              <a:t>•  Browse the entity tree, columns, types, keys and defaults</a:t>
            </a:r>
          </a:p>
          <a:p>
            <a:pPr algn="l">
              <a:spcAft>
                <a:spcPts val="1300"/>
              </a:spcAft>
            </a:pPr>
            <a:r>
              <a:rPr sz="1600" b="0">
                <a:solidFill>
                  <a:srgbClr val="333A45"/>
                </a:solidFill>
                <a:latin typeface="Calibri"/>
              </a:rPr>
              <a:t>•  Add, edit or delete tables &amp; columns inline</a:t>
            </a:r>
          </a:p>
        </p:txBody>
      </p:sp>
      <p:sp>
        <p:nvSpPr>
          <p:cNvPr id="6" name="Rounded Rectangle 5"/>
          <p:cNvSpPr/>
          <p:nvPr/>
        </p:nvSpPr>
        <p:spPr>
          <a:xfrm>
            <a:off x="7040880" y="1143000"/>
            <a:ext cx="4572000" cy="4983480"/>
          </a:xfrm>
          <a:prstGeom prst="roundRect">
            <a:avLst/>
          </a:prstGeom>
          <a:solidFill>
            <a:srgbClr val="EEF1F5"/>
          </a:solidFill>
          <a:ln w="15875">
            <a:solidFill>
              <a:srgbClr val="C3CA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A93A2"/>
                </a:solidFill>
                <a:latin typeface="Calibri"/>
              </a:rPr>
              <a:t>🖼  Screenshot</a:t>
            </a:r>
          </a:p>
          <a:p>
            <a:pPr algn="ctr">
              <a:spcAft>
                <a:spcPts val="0"/>
              </a:spcAft>
            </a:pPr>
            <a:r>
              <a:rPr sz="1200" b="0">
                <a:solidFill>
                  <a:srgbClr val="A0A8B4"/>
                </a:solidFill>
                <a:latin typeface="Calibri"/>
              </a:rPr>
              <a:t>Target System — entity tree + column grid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658368" cy="658368"/>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3</a:t>
            </a:r>
          </a:p>
        </p:txBody>
      </p:sp>
      <p:sp>
        <p:nvSpPr>
          <p:cNvPr id="3" name="TextBox 2"/>
          <p:cNvSpPr txBox="1"/>
          <p:nvPr/>
        </p:nvSpPr>
        <p:spPr>
          <a:xfrm>
            <a:off x="1371600" y="502920"/>
            <a:ext cx="5486400" cy="365760"/>
          </a:xfrm>
          <a:prstGeom prst="rect">
            <a:avLst/>
          </a:prstGeom>
          <a:noFill/>
        </p:spPr>
        <p:txBody>
          <a:bodyPr wrap="square" lIns="0" rIns="0" tIns="0" bIns="0">
            <a:spAutoFit/>
          </a:bodyPr>
          <a:lstStyle/>
          <a:p>
            <a:pPr algn="l">
              <a:spcAft>
                <a:spcPts val="0"/>
              </a:spcAft>
            </a:pPr>
            <a:r>
              <a:rPr sz="1200" b="1">
                <a:solidFill>
                  <a:srgbClr val="D04A02"/>
                </a:solidFill>
                <a:latin typeface="Calibri"/>
              </a:rPr>
              <a:t>STEP 3 · PRODUCT DATA DICTIONARY &amp; SCHEMA</a:t>
            </a:r>
          </a:p>
        </p:txBody>
      </p:sp>
      <p:sp>
        <p:nvSpPr>
          <p:cNvPr id="4" name="TextBox 3"/>
          <p:cNvSpPr txBox="1"/>
          <p:nvPr/>
        </p:nvSpPr>
        <p:spPr>
          <a:xfrm>
            <a:off x="1371600" y="868680"/>
            <a:ext cx="5486400" cy="1097280"/>
          </a:xfrm>
          <a:prstGeom prst="rect">
            <a:avLst/>
          </a:prstGeom>
          <a:noFill/>
        </p:spPr>
        <p:txBody>
          <a:bodyPr wrap="square" lIns="0" rIns="0" tIns="0" bIns="0">
            <a:spAutoFit/>
          </a:bodyPr>
          <a:lstStyle/>
          <a:p>
            <a:pPr algn="l">
              <a:spcAft>
                <a:spcPts val="0"/>
              </a:spcAft>
            </a:pPr>
            <a:r>
              <a:rPr sz="2800" b="1">
                <a:solidFill>
                  <a:srgbClr val="222529"/>
                </a:solidFill>
                <a:latin typeface="Calibri"/>
              </a:rPr>
              <a:t>Bring in Guidewire typelists &amp; schema.</a:t>
            </a:r>
          </a:p>
        </p:txBody>
      </p:sp>
      <p:sp>
        <p:nvSpPr>
          <p:cNvPr id="5" name="TextBox 4"/>
          <p:cNvSpPr txBox="1"/>
          <p:nvPr/>
        </p:nvSpPr>
        <p:spPr>
          <a:xfrm>
            <a:off x="640080" y="2331720"/>
            <a:ext cx="6035040" cy="4023360"/>
          </a:xfrm>
          <a:prstGeom prst="rect">
            <a:avLst/>
          </a:prstGeom>
          <a:noFill/>
        </p:spPr>
        <p:txBody>
          <a:bodyPr wrap="square" lIns="0" rIns="0" tIns="0" bIns="0">
            <a:spAutoFit/>
          </a:bodyPr>
          <a:lstStyle/>
          <a:p>
            <a:pPr algn="l">
              <a:spcAft>
                <a:spcPts val="1300"/>
              </a:spcAft>
            </a:pPr>
            <a:r>
              <a:rPr sz="1600" b="0">
                <a:solidFill>
                  <a:srgbClr val="333A45"/>
                </a:solidFill>
                <a:latin typeface="Calibri"/>
              </a:rPr>
              <a:t>•  Import the Guidewire data dictionary (typelists / code lists)</a:t>
            </a:r>
          </a:p>
          <a:p>
            <a:pPr algn="l">
              <a:spcAft>
                <a:spcPts val="1300"/>
              </a:spcAft>
            </a:pPr>
            <a:r>
              <a:rPr sz="1600" b="0">
                <a:solidFill>
                  <a:srgbClr val="333A45"/>
                </a:solidFill>
                <a:latin typeface="Calibri"/>
              </a:rPr>
              <a:t>•  Import the Product Schema (keys, foreign keys, type keys)</a:t>
            </a:r>
          </a:p>
          <a:p>
            <a:pPr algn="l">
              <a:spcAft>
                <a:spcPts val="1300"/>
              </a:spcAft>
            </a:pPr>
            <a:r>
              <a:rPr sz="1600" b="0">
                <a:solidFill>
                  <a:srgbClr val="333A45"/>
                </a:solidFill>
                <a:latin typeface="Calibri"/>
              </a:rPr>
              <a:t>•  Reused across Claim / Policy / Billing products</a:t>
            </a:r>
          </a:p>
          <a:p>
            <a:pPr algn="l">
              <a:spcAft>
                <a:spcPts val="1300"/>
              </a:spcAft>
            </a:pPr>
            <a:r>
              <a:rPr sz="1600" b="0">
                <a:solidFill>
                  <a:srgbClr val="333A45"/>
                </a:solidFill>
                <a:latin typeface="Calibri"/>
              </a:rPr>
              <a:t>•  Change highlighting shows what moved since the last import</a:t>
            </a:r>
          </a:p>
        </p:txBody>
      </p:sp>
      <p:sp>
        <p:nvSpPr>
          <p:cNvPr id="6" name="Rounded Rectangle 5"/>
          <p:cNvSpPr/>
          <p:nvPr/>
        </p:nvSpPr>
        <p:spPr>
          <a:xfrm>
            <a:off x="7040880" y="1143000"/>
            <a:ext cx="4572000" cy="4983480"/>
          </a:xfrm>
          <a:prstGeom prst="roundRect">
            <a:avLst/>
          </a:prstGeom>
          <a:solidFill>
            <a:srgbClr val="EEF1F5"/>
          </a:solidFill>
          <a:ln w="15875">
            <a:solidFill>
              <a:srgbClr val="C3CA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A93A2"/>
                </a:solidFill>
                <a:latin typeface="Calibri"/>
              </a:rPr>
              <a:t>🖼  Screenshot</a:t>
            </a:r>
          </a:p>
          <a:p>
            <a:pPr algn="ctr">
              <a:spcAft>
                <a:spcPts val="0"/>
              </a:spcAft>
            </a:pPr>
            <a:r>
              <a:rPr sz="1200" b="0">
                <a:solidFill>
                  <a:srgbClr val="A0A8B4"/>
                </a:solidFill>
                <a:latin typeface="Calibri"/>
              </a:rPr>
              <a:t>Product Data Dictionary — typelist codes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658368" cy="658368"/>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4</a:t>
            </a:r>
          </a:p>
        </p:txBody>
      </p:sp>
      <p:sp>
        <p:nvSpPr>
          <p:cNvPr id="3" name="TextBox 2"/>
          <p:cNvSpPr txBox="1"/>
          <p:nvPr/>
        </p:nvSpPr>
        <p:spPr>
          <a:xfrm>
            <a:off x="1371600" y="502920"/>
            <a:ext cx="5486400" cy="365760"/>
          </a:xfrm>
          <a:prstGeom prst="rect">
            <a:avLst/>
          </a:prstGeom>
          <a:noFill/>
        </p:spPr>
        <p:txBody>
          <a:bodyPr wrap="square" lIns="0" rIns="0" tIns="0" bIns="0">
            <a:spAutoFit/>
          </a:bodyPr>
          <a:lstStyle/>
          <a:p>
            <a:pPr algn="l">
              <a:spcAft>
                <a:spcPts val="0"/>
              </a:spcAft>
            </a:pPr>
            <a:r>
              <a:rPr sz="1200" b="1">
                <a:solidFill>
                  <a:srgbClr val="D04A02"/>
                </a:solidFill>
                <a:latin typeface="Calibri"/>
              </a:rPr>
              <a:t>STEP 4 · AI-FILL TARGET METADATA</a:t>
            </a:r>
          </a:p>
        </p:txBody>
      </p:sp>
      <p:sp>
        <p:nvSpPr>
          <p:cNvPr id="4" name="TextBox 3"/>
          <p:cNvSpPr txBox="1"/>
          <p:nvPr/>
        </p:nvSpPr>
        <p:spPr>
          <a:xfrm>
            <a:off x="1371600" y="868680"/>
            <a:ext cx="5486400" cy="1097280"/>
          </a:xfrm>
          <a:prstGeom prst="rect">
            <a:avLst/>
          </a:prstGeom>
          <a:noFill/>
        </p:spPr>
        <p:txBody>
          <a:bodyPr wrap="square" lIns="0" rIns="0" tIns="0" bIns="0">
            <a:spAutoFit/>
          </a:bodyPr>
          <a:lstStyle/>
          <a:p>
            <a:pPr algn="l">
              <a:spcAft>
                <a:spcPts val="0"/>
              </a:spcAft>
            </a:pPr>
            <a:r>
              <a:rPr sz="2800" b="1">
                <a:solidFill>
                  <a:srgbClr val="222529"/>
                </a:solidFill>
                <a:latin typeface="Calibri"/>
              </a:rPr>
              <a:t>Enrich the target automatically.</a:t>
            </a:r>
          </a:p>
        </p:txBody>
      </p:sp>
      <p:sp>
        <p:nvSpPr>
          <p:cNvPr id="5" name="TextBox 4"/>
          <p:cNvSpPr txBox="1"/>
          <p:nvPr/>
        </p:nvSpPr>
        <p:spPr>
          <a:xfrm>
            <a:off x="640080" y="2331720"/>
            <a:ext cx="6035040" cy="4023360"/>
          </a:xfrm>
          <a:prstGeom prst="rect">
            <a:avLst/>
          </a:prstGeom>
          <a:noFill/>
        </p:spPr>
        <p:txBody>
          <a:bodyPr wrap="square" lIns="0" rIns="0" tIns="0" bIns="0">
            <a:spAutoFit/>
          </a:bodyPr>
          <a:lstStyle/>
          <a:p>
            <a:pPr algn="l">
              <a:spcAft>
                <a:spcPts val="1300"/>
              </a:spcAft>
            </a:pPr>
            <a:r>
              <a:rPr sz="1600" b="0">
                <a:solidFill>
                  <a:srgbClr val="333A45"/>
                </a:solidFill>
                <a:latin typeface="Calibri"/>
              </a:rPr>
              <a:t>•  Column descriptions filled verbatim from the data dictionary</a:t>
            </a:r>
          </a:p>
          <a:p>
            <a:pPr algn="l">
              <a:spcAft>
                <a:spcPts val="1300"/>
              </a:spcAft>
            </a:pPr>
            <a:r>
              <a:rPr sz="1600" b="0">
                <a:solidFill>
                  <a:srgbClr val="333A45"/>
                </a:solidFill>
                <a:latin typeface="Calibri"/>
              </a:rPr>
              <a:t>•  Keys, foreign keys &amp; typelists carried from the Product Schema</a:t>
            </a:r>
          </a:p>
          <a:p>
            <a:pPr algn="l">
              <a:spcAft>
                <a:spcPts val="1300"/>
              </a:spcAft>
            </a:pPr>
            <a:r>
              <a:rPr sz="1600" b="0">
                <a:solidFill>
                  <a:srgbClr val="333A45"/>
                </a:solidFill>
                <a:latin typeface="Calibri"/>
              </a:rPr>
              <a:t>•  Run on selected tables via checkboxes</a:t>
            </a:r>
          </a:p>
          <a:p>
            <a:pPr algn="l">
              <a:spcAft>
                <a:spcPts val="1300"/>
              </a:spcAft>
            </a:pPr>
            <a:r>
              <a:rPr sz="1600" b="0">
                <a:solidFill>
                  <a:srgbClr val="333A45"/>
                </a:solidFill>
                <a:latin typeface="Calibri"/>
              </a:rPr>
              <a:t>•  AI-populated fields highlighted for the analyst to review</a:t>
            </a:r>
          </a:p>
        </p:txBody>
      </p:sp>
      <p:sp>
        <p:nvSpPr>
          <p:cNvPr id="6" name="Rounded Rectangle 5"/>
          <p:cNvSpPr/>
          <p:nvPr/>
        </p:nvSpPr>
        <p:spPr>
          <a:xfrm>
            <a:off x="7040880" y="1143000"/>
            <a:ext cx="4572000" cy="4983480"/>
          </a:xfrm>
          <a:prstGeom prst="roundRect">
            <a:avLst/>
          </a:prstGeom>
          <a:solidFill>
            <a:srgbClr val="EEF1F5"/>
          </a:solidFill>
          <a:ln w="15875">
            <a:solidFill>
              <a:srgbClr val="C3CA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A93A2"/>
                </a:solidFill>
                <a:latin typeface="Calibri"/>
              </a:rPr>
              <a:t>🖼  Screenshot</a:t>
            </a:r>
          </a:p>
          <a:p>
            <a:pPr algn="ctr">
              <a:spcAft>
                <a:spcPts val="0"/>
              </a:spcAft>
            </a:pPr>
            <a:r>
              <a:rPr sz="1200" b="0">
                <a:solidFill>
                  <a:srgbClr val="A0A8B4"/>
                </a:solidFill>
                <a:latin typeface="Calibri"/>
              </a:rPr>
              <a:t>Target System — AI-filled columns highlighted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658368" cy="658368"/>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5</a:t>
            </a:r>
          </a:p>
        </p:txBody>
      </p:sp>
      <p:sp>
        <p:nvSpPr>
          <p:cNvPr id="3" name="TextBox 2"/>
          <p:cNvSpPr txBox="1"/>
          <p:nvPr/>
        </p:nvSpPr>
        <p:spPr>
          <a:xfrm>
            <a:off x="1371600" y="502920"/>
            <a:ext cx="5486400" cy="365760"/>
          </a:xfrm>
          <a:prstGeom prst="rect">
            <a:avLst/>
          </a:prstGeom>
          <a:noFill/>
        </p:spPr>
        <p:txBody>
          <a:bodyPr wrap="square" lIns="0" rIns="0" tIns="0" bIns="0">
            <a:spAutoFit/>
          </a:bodyPr>
          <a:lstStyle/>
          <a:p>
            <a:pPr algn="l">
              <a:spcAft>
                <a:spcPts val="0"/>
              </a:spcAft>
            </a:pPr>
            <a:r>
              <a:rPr sz="1200" b="1">
                <a:solidFill>
                  <a:srgbClr val="D04A02"/>
                </a:solidFill>
                <a:latin typeface="Calibri"/>
              </a:rPr>
              <a:t>STEP 5 · GENERATE MAPPINGS</a:t>
            </a:r>
          </a:p>
        </p:txBody>
      </p:sp>
      <p:sp>
        <p:nvSpPr>
          <p:cNvPr id="4" name="TextBox 3"/>
          <p:cNvSpPr txBox="1"/>
          <p:nvPr/>
        </p:nvSpPr>
        <p:spPr>
          <a:xfrm>
            <a:off x="1371600" y="868680"/>
            <a:ext cx="5486400" cy="1097280"/>
          </a:xfrm>
          <a:prstGeom prst="rect">
            <a:avLst/>
          </a:prstGeom>
          <a:noFill/>
        </p:spPr>
        <p:txBody>
          <a:bodyPr wrap="square" lIns="0" rIns="0" tIns="0" bIns="0">
            <a:spAutoFit/>
          </a:bodyPr>
          <a:lstStyle/>
          <a:p>
            <a:pPr algn="l">
              <a:spcAft>
                <a:spcPts val="0"/>
              </a:spcAft>
            </a:pPr>
            <a:r>
              <a:rPr sz="2800" b="1">
                <a:solidFill>
                  <a:srgbClr val="222529"/>
                </a:solidFill>
                <a:latin typeface="Calibri"/>
              </a:rPr>
              <a:t>AI drafts every column mapping.</a:t>
            </a:r>
          </a:p>
        </p:txBody>
      </p:sp>
      <p:sp>
        <p:nvSpPr>
          <p:cNvPr id="5" name="TextBox 4"/>
          <p:cNvSpPr txBox="1"/>
          <p:nvPr/>
        </p:nvSpPr>
        <p:spPr>
          <a:xfrm>
            <a:off x="640080" y="2331720"/>
            <a:ext cx="6035040" cy="4023360"/>
          </a:xfrm>
          <a:prstGeom prst="rect">
            <a:avLst/>
          </a:prstGeom>
          <a:noFill/>
        </p:spPr>
        <p:txBody>
          <a:bodyPr wrap="square" lIns="0" rIns="0" tIns="0" bIns="0">
            <a:spAutoFit/>
          </a:bodyPr>
          <a:lstStyle/>
          <a:p>
            <a:pPr algn="l">
              <a:spcAft>
                <a:spcPts val="1300"/>
              </a:spcAft>
            </a:pPr>
            <a:r>
              <a:rPr sz="1600" b="0">
                <a:solidFill>
                  <a:srgbClr val="333A45"/>
                </a:solidFill>
                <a:latin typeface="Calibri"/>
              </a:rPr>
              <a:t>•  Source column, transformation rule, business rule, null handling</a:t>
            </a:r>
          </a:p>
          <a:p>
            <a:pPr algn="l">
              <a:spcAft>
                <a:spcPts val="1300"/>
              </a:spcAft>
            </a:pPr>
            <a:r>
              <a:rPr sz="1600" b="0">
                <a:solidFill>
                  <a:srgbClr val="333A45"/>
                </a:solidFill>
                <a:latin typeface="Calibri"/>
              </a:rPr>
              <a:t>•  A 0–100 confidence per mapping, plus the SQL JOIN</a:t>
            </a:r>
          </a:p>
          <a:p>
            <a:pPr algn="l">
              <a:spcAft>
                <a:spcPts val="1300"/>
              </a:spcAft>
            </a:pPr>
            <a:r>
              <a:rPr sz="1600" b="0">
                <a:solidFill>
                  <a:srgbClr val="333A45"/>
                </a:solidFill>
                <a:latin typeface="Calibri"/>
              </a:rPr>
              <a:t>•  Processed table-by-table — even the widest tables never truncate</a:t>
            </a:r>
          </a:p>
          <a:p>
            <a:pPr algn="l">
              <a:spcAft>
                <a:spcPts val="1300"/>
              </a:spcAft>
            </a:pPr>
            <a:r>
              <a:rPr sz="1600" b="0">
                <a:solidFill>
                  <a:srgbClr val="333A45"/>
                </a:solidFill>
                <a:latin typeface="Calibri"/>
              </a:rPr>
              <a:t>•  Grounded on the real source; the model never invents tables</a:t>
            </a:r>
          </a:p>
        </p:txBody>
      </p:sp>
      <p:sp>
        <p:nvSpPr>
          <p:cNvPr id="6" name="Rounded Rectangle 5"/>
          <p:cNvSpPr/>
          <p:nvPr/>
        </p:nvSpPr>
        <p:spPr>
          <a:xfrm>
            <a:off x="7040880" y="1143000"/>
            <a:ext cx="4572000" cy="4983480"/>
          </a:xfrm>
          <a:prstGeom prst="roundRect">
            <a:avLst/>
          </a:prstGeom>
          <a:solidFill>
            <a:srgbClr val="EEF1F5"/>
          </a:solidFill>
          <a:ln w="15875">
            <a:solidFill>
              <a:srgbClr val="C3CA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A93A2"/>
                </a:solidFill>
                <a:latin typeface="Calibri"/>
              </a:rPr>
              <a:t>🖼  Screenshot</a:t>
            </a:r>
          </a:p>
          <a:p>
            <a:pPr algn="ctr">
              <a:spcAft>
                <a:spcPts val="0"/>
              </a:spcAft>
            </a:pPr>
            <a:r>
              <a:rPr sz="1200" b="0">
                <a:solidFill>
                  <a:srgbClr val="A0A8B4"/>
                </a:solidFill>
                <a:latin typeface="Calibri"/>
              </a:rPr>
              <a:t>AI Mapping Generator — live console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658368" cy="658368"/>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6</a:t>
            </a:r>
          </a:p>
        </p:txBody>
      </p:sp>
      <p:sp>
        <p:nvSpPr>
          <p:cNvPr id="3" name="TextBox 2"/>
          <p:cNvSpPr txBox="1"/>
          <p:nvPr/>
        </p:nvSpPr>
        <p:spPr>
          <a:xfrm>
            <a:off x="1371600" y="502920"/>
            <a:ext cx="5486400" cy="365760"/>
          </a:xfrm>
          <a:prstGeom prst="rect">
            <a:avLst/>
          </a:prstGeom>
          <a:noFill/>
        </p:spPr>
        <p:txBody>
          <a:bodyPr wrap="square" lIns="0" rIns="0" tIns="0" bIns="0">
            <a:spAutoFit/>
          </a:bodyPr>
          <a:lstStyle/>
          <a:p>
            <a:pPr algn="l">
              <a:spcAft>
                <a:spcPts val="0"/>
              </a:spcAft>
            </a:pPr>
            <a:r>
              <a:rPr sz="1200" b="1">
                <a:solidFill>
                  <a:srgbClr val="D04A02"/>
                </a:solidFill>
                <a:latin typeface="Calibri"/>
              </a:rPr>
              <a:t>STEP 6 · REVIEW &amp; EDIT</a:t>
            </a:r>
          </a:p>
        </p:txBody>
      </p:sp>
      <p:sp>
        <p:nvSpPr>
          <p:cNvPr id="4" name="TextBox 3"/>
          <p:cNvSpPr txBox="1"/>
          <p:nvPr/>
        </p:nvSpPr>
        <p:spPr>
          <a:xfrm>
            <a:off x="1371600" y="868680"/>
            <a:ext cx="5486400" cy="1097280"/>
          </a:xfrm>
          <a:prstGeom prst="rect">
            <a:avLst/>
          </a:prstGeom>
          <a:noFill/>
        </p:spPr>
        <p:txBody>
          <a:bodyPr wrap="square" lIns="0" rIns="0" tIns="0" bIns="0">
            <a:spAutoFit/>
          </a:bodyPr>
          <a:lstStyle/>
          <a:p>
            <a:pPr algn="l">
              <a:spcAft>
                <a:spcPts val="0"/>
              </a:spcAft>
            </a:pPr>
            <a:r>
              <a:rPr sz="2800" b="1">
                <a:solidFill>
                  <a:srgbClr val="222529"/>
                </a:solidFill>
                <a:latin typeface="Calibri"/>
              </a:rPr>
              <a:t>The human stays in control.</a:t>
            </a:r>
          </a:p>
        </p:txBody>
      </p:sp>
      <p:sp>
        <p:nvSpPr>
          <p:cNvPr id="5" name="TextBox 4"/>
          <p:cNvSpPr txBox="1"/>
          <p:nvPr/>
        </p:nvSpPr>
        <p:spPr>
          <a:xfrm>
            <a:off x="640080" y="2331720"/>
            <a:ext cx="6035040" cy="4023360"/>
          </a:xfrm>
          <a:prstGeom prst="rect">
            <a:avLst/>
          </a:prstGeom>
          <a:noFill/>
        </p:spPr>
        <p:txBody>
          <a:bodyPr wrap="square" lIns="0" rIns="0" tIns="0" bIns="0">
            <a:spAutoFit/>
          </a:bodyPr>
          <a:lstStyle/>
          <a:p>
            <a:pPr algn="l">
              <a:spcAft>
                <a:spcPts val="1300"/>
              </a:spcAft>
            </a:pPr>
            <a:r>
              <a:rPr sz="1600" b="0">
                <a:solidFill>
                  <a:srgbClr val="333A45"/>
                </a:solidFill>
                <a:latin typeface="Calibri"/>
              </a:rPr>
              <a:t>•  Approve, edit or regenerate any mapping</a:t>
            </a:r>
          </a:p>
          <a:p>
            <a:pPr algn="l">
              <a:spcAft>
                <a:spcPts val="1300"/>
              </a:spcAft>
            </a:pPr>
            <a:r>
              <a:rPr sz="1600" b="0">
                <a:solidFill>
                  <a:srgbClr val="333A45"/>
                </a:solidFill>
                <a:latin typeface="Calibri"/>
              </a:rPr>
              <a:t>•  Manually overwrite source table / column &amp; rules (pencil edit)</a:t>
            </a:r>
          </a:p>
          <a:p>
            <a:pPr algn="l">
              <a:spcAft>
                <a:spcPts val="1300"/>
              </a:spcAft>
            </a:pPr>
            <a:r>
              <a:rPr sz="1600" b="0">
                <a:solidFill>
                  <a:srgbClr val="333A45"/>
                </a:solidFill>
                <a:latin typeface="Calibri"/>
              </a:rPr>
              <a:t>•  Row colour shows review status at a glance</a:t>
            </a:r>
          </a:p>
          <a:p>
            <a:pPr algn="l">
              <a:spcAft>
                <a:spcPts val="1300"/>
              </a:spcAft>
            </a:pPr>
            <a:r>
              <a:rPr sz="1600" b="0">
                <a:solidFill>
                  <a:srgbClr val="333A45"/>
                </a:solidFill>
                <a:latin typeface="Calibri"/>
              </a:rPr>
              <a:t>•  Filter to just the mappings that need human review</a:t>
            </a:r>
          </a:p>
        </p:txBody>
      </p:sp>
      <p:sp>
        <p:nvSpPr>
          <p:cNvPr id="6" name="Rounded Rectangle 5"/>
          <p:cNvSpPr/>
          <p:nvPr/>
        </p:nvSpPr>
        <p:spPr>
          <a:xfrm>
            <a:off x="7040880" y="1143000"/>
            <a:ext cx="4572000" cy="4983480"/>
          </a:xfrm>
          <a:prstGeom prst="roundRect">
            <a:avLst/>
          </a:prstGeom>
          <a:solidFill>
            <a:srgbClr val="EEF1F5"/>
          </a:solidFill>
          <a:ln w="15875">
            <a:solidFill>
              <a:srgbClr val="C3CA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A93A2"/>
                </a:solidFill>
                <a:latin typeface="Calibri"/>
              </a:rPr>
              <a:t>🖼  Screenshot</a:t>
            </a:r>
          </a:p>
          <a:p>
            <a:pPr algn="ctr">
              <a:spcAft>
                <a:spcPts val="0"/>
              </a:spcAft>
            </a:pPr>
            <a:r>
              <a:rPr sz="1200" b="0">
                <a:solidFill>
                  <a:srgbClr val="A0A8B4"/>
                </a:solidFill>
                <a:latin typeface="Calibri"/>
              </a:rPr>
              <a:t>AI Mapping Workspace — review grid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658368" cy="658368"/>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7</a:t>
            </a:r>
          </a:p>
        </p:txBody>
      </p:sp>
      <p:sp>
        <p:nvSpPr>
          <p:cNvPr id="3" name="TextBox 2"/>
          <p:cNvSpPr txBox="1"/>
          <p:nvPr/>
        </p:nvSpPr>
        <p:spPr>
          <a:xfrm>
            <a:off x="1371600" y="502920"/>
            <a:ext cx="5486400" cy="365760"/>
          </a:xfrm>
          <a:prstGeom prst="rect">
            <a:avLst/>
          </a:prstGeom>
          <a:noFill/>
        </p:spPr>
        <p:txBody>
          <a:bodyPr wrap="square" lIns="0" rIns="0" tIns="0" bIns="0">
            <a:spAutoFit/>
          </a:bodyPr>
          <a:lstStyle/>
          <a:p>
            <a:pPr algn="l">
              <a:spcAft>
                <a:spcPts val="0"/>
              </a:spcAft>
            </a:pPr>
            <a:r>
              <a:rPr sz="1200" b="1">
                <a:solidFill>
                  <a:srgbClr val="D04A02"/>
                </a:solidFill>
                <a:latin typeface="Calibri"/>
              </a:rPr>
              <a:t>STEP 7 · AI LOOKUP MAPPING</a:t>
            </a:r>
          </a:p>
        </p:txBody>
      </p:sp>
      <p:sp>
        <p:nvSpPr>
          <p:cNvPr id="4" name="TextBox 3"/>
          <p:cNvSpPr txBox="1"/>
          <p:nvPr/>
        </p:nvSpPr>
        <p:spPr>
          <a:xfrm>
            <a:off x="1371600" y="868680"/>
            <a:ext cx="5486400" cy="1097280"/>
          </a:xfrm>
          <a:prstGeom prst="rect">
            <a:avLst/>
          </a:prstGeom>
          <a:noFill/>
        </p:spPr>
        <p:txBody>
          <a:bodyPr wrap="square" lIns="0" rIns="0" tIns="0" bIns="0">
            <a:spAutoFit/>
          </a:bodyPr>
          <a:lstStyle/>
          <a:p>
            <a:pPr algn="l">
              <a:spcAft>
                <a:spcPts val="0"/>
              </a:spcAft>
            </a:pPr>
            <a:r>
              <a:rPr sz="2800" b="1">
                <a:solidFill>
                  <a:srgbClr val="222529"/>
                </a:solidFill>
                <a:latin typeface="Calibri"/>
              </a:rPr>
              <a:t>Map legacy codes to Guidewire typelists.</a:t>
            </a:r>
          </a:p>
        </p:txBody>
      </p:sp>
      <p:sp>
        <p:nvSpPr>
          <p:cNvPr id="5" name="TextBox 4"/>
          <p:cNvSpPr txBox="1"/>
          <p:nvPr/>
        </p:nvSpPr>
        <p:spPr>
          <a:xfrm>
            <a:off x="640080" y="2331720"/>
            <a:ext cx="6035040" cy="4023360"/>
          </a:xfrm>
          <a:prstGeom prst="rect">
            <a:avLst/>
          </a:prstGeom>
          <a:noFill/>
        </p:spPr>
        <p:txBody>
          <a:bodyPr wrap="square" lIns="0" rIns="0" tIns="0" bIns="0">
            <a:spAutoFit/>
          </a:bodyPr>
          <a:lstStyle/>
          <a:p>
            <a:pPr algn="l">
              <a:spcAft>
                <a:spcPts val="1300"/>
              </a:spcAft>
            </a:pPr>
            <a:r>
              <a:rPr sz="1600" b="0">
                <a:solidFill>
                  <a:srgbClr val="333A45"/>
                </a:solidFill>
                <a:latin typeface="Calibri"/>
              </a:rPr>
              <a:t>•  List / typelist columns surface automatically from mapped tables</a:t>
            </a:r>
          </a:p>
          <a:p>
            <a:pPr algn="l">
              <a:spcAft>
                <a:spcPts val="1300"/>
              </a:spcAft>
            </a:pPr>
            <a:r>
              <a:rPr sz="1600" b="0">
                <a:solidFill>
                  <a:srgbClr val="333A45"/>
                </a:solidFill>
                <a:latin typeface="Calibri"/>
              </a:rPr>
              <a:t>•  Enter legacy values → Generate → legacy → GW code mapping</a:t>
            </a:r>
          </a:p>
          <a:p>
            <a:pPr algn="l">
              <a:spcAft>
                <a:spcPts val="1300"/>
              </a:spcAft>
            </a:pPr>
            <a:r>
              <a:rPr sz="1600" b="0">
                <a:solidFill>
                  <a:srgbClr val="333A45"/>
                </a:solidFill>
                <a:latin typeface="Calibri"/>
              </a:rPr>
              <a:t>•  Allowed codes pulled from the imported Guidewire typelists</a:t>
            </a:r>
          </a:p>
          <a:p>
            <a:pPr algn="l">
              <a:spcAft>
                <a:spcPts val="1300"/>
              </a:spcAft>
            </a:pPr>
            <a:r>
              <a:rPr sz="1600" b="0">
                <a:solidFill>
                  <a:srgbClr val="333A45"/>
                </a:solidFill>
                <a:latin typeface="Calibri"/>
              </a:rPr>
              <a:t>•  One reusable LookupData table, joined by lookup name in the ETL</a:t>
            </a:r>
          </a:p>
        </p:txBody>
      </p:sp>
      <p:sp>
        <p:nvSpPr>
          <p:cNvPr id="6" name="Rounded Rectangle 5"/>
          <p:cNvSpPr/>
          <p:nvPr/>
        </p:nvSpPr>
        <p:spPr>
          <a:xfrm>
            <a:off x="7040880" y="1143000"/>
            <a:ext cx="4572000" cy="4983480"/>
          </a:xfrm>
          <a:prstGeom prst="roundRect">
            <a:avLst/>
          </a:prstGeom>
          <a:solidFill>
            <a:srgbClr val="EEF1F5"/>
          </a:solidFill>
          <a:ln w="15875">
            <a:solidFill>
              <a:srgbClr val="C3CA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A93A2"/>
                </a:solidFill>
                <a:latin typeface="Calibri"/>
              </a:rPr>
              <a:t>🖼  Screenshot</a:t>
            </a:r>
          </a:p>
          <a:p>
            <a:pPr algn="ctr">
              <a:spcAft>
                <a:spcPts val="0"/>
              </a:spcAft>
            </a:pPr>
            <a:r>
              <a:rPr sz="1200" b="0">
                <a:solidFill>
                  <a:srgbClr val="A0A8B4"/>
                </a:solidFill>
                <a:latin typeface="Calibri"/>
              </a:rPr>
              <a:t>AI Lookup Mapping — legacy → GW values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658368" cy="658368"/>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8</a:t>
            </a:r>
          </a:p>
        </p:txBody>
      </p:sp>
      <p:sp>
        <p:nvSpPr>
          <p:cNvPr id="3" name="TextBox 2"/>
          <p:cNvSpPr txBox="1"/>
          <p:nvPr/>
        </p:nvSpPr>
        <p:spPr>
          <a:xfrm>
            <a:off x="1371600" y="502920"/>
            <a:ext cx="5486400" cy="365760"/>
          </a:xfrm>
          <a:prstGeom prst="rect">
            <a:avLst/>
          </a:prstGeom>
          <a:noFill/>
        </p:spPr>
        <p:txBody>
          <a:bodyPr wrap="square" lIns="0" rIns="0" tIns="0" bIns="0">
            <a:spAutoFit/>
          </a:bodyPr>
          <a:lstStyle/>
          <a:p>
            <a:pPr algn="l">
              <a:spcAft>
                <a:spcPts val="0"/>
              </a:spcAft>
            </a:pPr>
            <a:r>
              <a:rPr sz="1200" b="1">
                <a:solidFill>
                  <a:srgbClr val="D04A02"/>
                </a:solidFill>
                <a:latin typeface="Calibri"/>
              </a:rPr>
              <a:t>STEP 8 · VALIDATE &amp; GENERATE ETL</a:t>
            </a:r>
          </a:p>
        </p:txBody>
      </p:sp>
      <p:sp>
        <p:nvSpPr>
          <p:cNvPr id="4" name="TextBox 3"/>
          <p:cNvSpPr txBox="1"/>
          <p:nvPr/>
        </p:nvSpPr>
        <p:spPr>
          <a:xfrm>
            <a:off x="1371600" y="868680"/>
            <a:ext cx="5486400" cy="1097280"/>
          </a:xfrm>
          <a:prstGeom prst="rect">
            <a:avLst/>
          </a:prstGeom>
          <a:noFill/>
        </p:spPr>
        <p:txBody>
          <a:bodyPr wrap="square" lIns="0" rIns="0" tIns="0" bIns="0">
            <a:spAutoFit/>
          </a:bodyPr>
          <a:lstStyle/>
          <a:p>
            <a:pPr algn="l">
              <a:spcAft>
                <a:spcPts val="0"/>
              </a:spcAft>
            </a:pPr>
            <a:r>
              <a:rPr sz="2800" b="1">
                <a:solidFill>
                  <a:srgbClr val="222529"/>
                </a:solidFill>
                <a:latin typeface="Calibri"/>
              </a:rPr>
              <a:t>Turn the mapping into runnable SQL.</a:t>
            </a:r>
          </a:p>
        </p:txBody>
      </p:sp>
      <p:sp>
        <p:nvSpPr>
          <p:cNvPr id="5" name="TextBox 4"/>
          <p:cNvSpPr txBox="1"/>
          <p:nvPr/>
        </p:nvSpPr>
        <p:spPr>
          <a:xfrm>
            <a:off x="640080" y="2331720"/>
            <a:ext cx="6035040" cy="4023360"/>
          </a:xfrm>
          <a:prstGeom prst="rect">
            <a:avLst/>
          </a:prstGeom>
          <a:noFill/>
        </p:spPr>
        <p:txBody>
          <a:bodyPr wrap="square" lIns="0" rIns="0" tIns="0" bIns="0">
            <a:spAutoFit/>
          </a:bodyPr>
          <a:lstStyle/>
          <a:p>
            <a:pPr algn="l">
              <a:spcAft>
                <a:spcPts val="1300"/>
              </a:spcAft>
            </a:pPr>
            <a:r>
              <a:rPr sz="1600" b="0">
                <a:solidFill>
                  <a:srgbClr val="333A45"/>
                </a:solidFill>
                <a:latin typeface="Calibri"/>
              </a:rPr>
              <a:t>•  Validation rules flag gaps before code generation</a:t>
            </a:r>
          </a:p>
          <a:p>
            <a:pPr algn="l">
              <a:spcAft>
                <a:spcPts val="1300"/>
              </a:spcAft>
            </a:pPr>
            <a:r>
              <a:rPr sz="1600" b="0">
                <a:solidFill>
                  <a:srgbClr val="333A45"/>
                </a:solidFill>
                <a:latin typeface="Calibri"/>
              </a:rPr>
              <a:t>•  Generates ETL stored procedures per target table</a:t>
            </a:r>
          </a:p>
          <a:p>
            <a:pPr algn="l">
              <a:spcAft>
                <a:spcPts val="1300"/>
              </a:spcAft>
            </a:pPr>
            <a:r>
              <a:rPr sz="1600" b="0">
                <a:solidFill>
                  <a:srgbClr val="333A45"/>
                </a:solidFill>
                <a:latin typeface="Calibri"/>
              </a:rPr>
              <a:t>•  Emits the common LookupData insert script too</a:t>
            </a:r>
          </a:p>
          <a:p>
            <a:pPr algn="l">
              <a:spcAft>
                <a:spcPts val="1300"/>
              </a:spcAft>
            </a:pPr>
            <a:r>
              <a:rPr sz="1600" b="0">
                <a:solidFill>
                  <a:srgbClr val="333A45"/>
                </a:solidFill>
                <a:latin typeface="Calibri"/>
              </a:rPr>
              <a:t>•  Output is standard, reviewable SQL</a:t>
            </a:r>
          </a:p>
        </p:txBody>
      </p:sp>
      <p:sp>
        <p:nvSpPr>
          <p:cNvPr id="6" name="Rounded Rectangle 5"/>
          <p:cNvSpPr/>
          <p:nvPr/>
        </p:nvSpPr>
        <p:spPr>
          <a:xfrm>
            <a:off x="7040880" y="1143000"/>
            <a:ext cx="4572000" cy="4983480"/>
          </a:xfrm>
          <a:prstGeom prst="roundRect">
            <a:avLst/>
          </a:prstGeom>
          <a:solidFill>
            <a:srgbClr val="EEF1F5"/>
          </a:solidFill>
          <a:ln w="15875">
            <a:solidFill>
              <a:srgbClr val="C3CA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A93A2"/>
                </a:solidFill>
                <a:latin typeface="Calibri"/>
              </a:rPr>
              <a:t>🖼  Screenshot</a:t>
            </a:r>
          </a:p>
          <a:p>
            <a:pPr algn="ctr">
              <a:spcAft>
                <a:spcPts val="0"/>
              </a:spcAft>
            </a:pPr>
            <a:r>
              <a:rPr sz="1200" b="0">
                <a:solidFill>
                  <a:srgbClr val="A0A8B4"/>
                </a:solidFill>
                <a:latin typeface="Calibri"/>
              </a:rPr>
              <a:t>ETL Code (SQL) — generated stored procedure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48640"/>
            <a:ext cx="10972800" cy="914400"/>
          </a:xfrm>
          <a:prstGeom prst="rect">
            <a:avLst/>
          </a:prstGeom>
          <a:noFill/>
        </p:spPr>
        <p:txBody>
          <a:bodyPr wrap="square" lIns="0" rIns="0" tIns="0" bIns="0">
            <a:spAutoFit/>
          </a:bodyPr>
          <a:lstStyle/>
          <a:p>
            <a:pPr algn="l">
              <a:spcAft>
                <a:spcPts val="0"/>
              </a:spcAft>
            </a:pPr>
            <a:r>
              <a:rPr sz="3400" b="1">
                <a:solidFill>
                  <a:srgbClr val="222529"/>
                </a:solidFill>
                <a:latin typeface="Calibri"/>
              </a:rPr>
              <a:t>Key capabilities</a:t>
            </a:r>
          </a:p>
        </p:txBody>
      </p:sp>
      <p:sp>
        <p:nvSpPr>
          <p:cNvPr id="3" name="Rounded Rectangle 2"/>
          <p:cNvSpPr/>
          <p:nvPr/>
        </p:nvSpPr>
        <p:spPr>
          <a:xfrm>
            <a:off x="640080" y="1828800"/>
            <a:ext cx="3566160" cy="16916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a:lstStyle/>
          <a:p>
            <a:pPr algn="l">
              <a:spcAft>
                <a:spcPts val="500"/>
              </a:spcAft>
            </a:pPr>
            <a:r>
              <a:rPr sz="1700" b="1">
                <a:solidFill>
                  <a:srgbClr val="D04A02"/>
                </a:solidFill>
                <a:latin typeface="Calibri"/>
              </a:rPr>
              <a:t>AI-drafted mappings</a:t>
            </a:r>
          </a:p>
          <a:p>
            <a:pPr algn="l">
              <a:spcAft>
                <a:spcPts val="0"/>
              </a:spcAft>
            </a:pPr>
            <a:r>
              <a:rPr sz="1350" b="0">
                <a:solidFill>
                  <a:srgbClr val="4B5563"/>
                </a:solidFill>
                <a:latin typeface="Calibri"/>
              </a:rPr>
              <a:t>Every target column proposed with a rule and a confidence score.</a:t>
            </a:r>
          </a:p>
        </p:txBody>
      </p:sp>
      <p:sp>
        <p:nvSpPr>
          <p:cNvPr id="4" name="Rounded Rectangle 3"/>
          <p:cNvSpPr/>
          <p:nvPr/>
        </p:nvSpPr>
        <p:spPr>
          <a:xfrm>
            <a:off x="4526280" y="1828800"/>
            <a:ext cx="3566160" cy="16916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a:lstStyle/>
          <a:p>
            <a:pPr algn="l">
              <a:spcAft>
                <a:spcPts val="500"/>
              </a:spcAft>
            </a:pPr>
            <a:r>
              <a:rPr sz="1700" b="1">
                <a:solidFill>
                  <a:srgbClr val="D04A02"/>
                </a:solidFill>
                <a:latin typeface="Calibri"/>
              </a:rPr>
              <a:t>Human review &amp; override</a:t>
            </a:r>
          </a:p>
          <a:p>
            <a:pPr algn="l">
              <a:spcAft>
                <a:spcPts val="0"/>
              </a:spcAft>
            </a:pPr>
            <a:r>
              <a:rPr sz="1350" b="0">
                <a:solidFill>
                  <a:srgbClr val="4B5563"/>
                </a:solidFill>
                <a:latin typeface="Calibri"/>
              </a:rPr>
              <a:t>Approve, edit, regenerate, or manually overwrite any mapping.</a:t>
            </a:r>
          </a:p>
        </p:txBody>
      </p:sp>
      <p:sp>
        <p:nvSpPr>
          <p:cNvPr id="5" name="Rounded Rectangle 4"/>
          <p:cNvSpPr/>
          <p:nvPr/>
        </p:nvSpPr>
        <p:spPr>
          <a:xfrm>
            <a:off x="8412480" y="1828800"/>
            <a:ext cx="3566160" cy="16916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a:lstStyle/>
          <a:p>
            <a:pPr algn="l">
              <a:spcAft>
                <a:spcPts val="500"/>
              </a:spcAft>
            </a:pPr>
            <a:r>
              <a:rPr sz="1700" b="1">
                <a:solidFill>
                  <a:srgbClr val="D04A02"/>
                </a:solidFill>
                <a:latin typeface="Calibri"/>
              </a:rPr>
              <a:t>Legacy → Guidewire values</a:t>
            </a:r>
          </a:p>
          <a:p>
            <a:pPr algn="l">
              <a:spcAft>
                <a:spcPts val="0"/>
              </a:spcAft>
            </a:pPr>
            <a:r>
              <a:rPr sz="1350" b="0">
                <a:solidFill>
                  <a:srgbClr val="4B5563"/>
                </a:solidFill>
                <a:latin typeface="Calibri"/>
              </a:rPr>
              <a:t>AI maps legacy codes to typelist codes into one LookupData table.</a:t>
            </a:r>
          </a:p>
        </p:txBody>
      </p:sp>
      <p:sp>
        <p:nvSpPr>
          <p:cNvPr id="6" name="Rounded Rectangle 5"/>
          <p:cNvSpPr/>
          <p:nvPr/>
        </p:nvSpPr>
        <p:spPr>
          <a:xfrm>
            <a:off x="640080" y="3840480"/>
            <a:ext cx="3566160" cy="16916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a:lstStyle/>
          <a:p>
            <a:pPr algn="l">
              <a:spcAft>
                <a:spcPts val="500"/>
              </a:spcAft>
            </a:pPr>
            <a:r>
              <a:rPr sz="1700" b="1">
                <a:solidFill>
                  <a:srgbClr val="D04A02"/>
                </a:solidFill>
                <a:latin typeface="Calibri"/>
              </a:rPr>
              <a:t>Chat with your data</a:t>
            </a:r>
          </a:p>
          <a:p>
            <a:pPr algn="l">
              <a:spcAft>
                <a:spcPts val="0"/>
              </a:spcAft>
            </a:pPr>
            <a:r>
              <a:rPr sz="1350" b="0">
                <a:solidFill>
                  <a:srgbClr val="4B5563"/>
                </a:solidFill>
                <a:latin typeface="Calibri"/>
              </a:rPr>
              <a:t>Ask questions of your own documents; answers cite the source.</a:t>
            </a:r>
          </a:p>
        </p:txBody>
      </p:sp>
      <p:sp>
        <p:nvSpPr>
          <p:cNvPr id="7" name="Rounded Rectangle 6"/>
          <p:cNvSpPr/>
          <p:nvPr/>
        </p:nvSpPr>
        <p:spPr>
          <a:xfrm>
            <a:off x="4526280" y="3840480"/>
            <a:ext cx="3566160" cy="16916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a:lstStyle/>
          <a:p>
            <a:pPr algn="l">
              <a:spcAft>
                <a:spcPts val="500"/>
              </a:spcAft>
            </a:pPr>
            <a:r>
              <a:rPr sz="1700" b="1">
                <a:solidFill>
                  <a:srgbClr val="D04A02"/>
                </a:solidFill>
                <a:latin typeface="Calibri"/>
              </a:rPr>
              <a:t>Multi-tenant &amp; isolated</a:t>
            </a:r>
          </a:p>
          <a:p>
            <a:pPr algn="l">
              <a:spcAft>
                <a:spcPts val="0"/>
              </a:spcAft>
            </a:pPr>
            <a:r>
              <a:rPr sz="1350" b="0">
                <a:solidFill>
                  <a:srgbClr val="4B5563"/>
                </a:solidFill>
                <a:latin typeface="Calibri"/>
              </a:rPr>
              <a:t>Data scoped to the signed-in user and their active client.</a:t>
            </a:r>
          </a:p>
        </p:txBody>
      </p:sp>
      <p:sp>
        <p:nvSpPr>
          <p:cNvPr id="8" name="Rounded Rectangle 7"/>
          <p:cNvSpPr/>
          <p:nvPr/>
        </p:nvSpPr>
        <p:spPr>
          <a:xfrm>
            <a:off x="8412480" y="3840480"/>
            <a:ext cx="3566160" cy="16916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a:lstStyle/>
          <a:p>
            <a:pPr algn="l">
              <a:spcAft>
                <a:spcPts val="500"/>
              </a:spcAft>
            </a:pPr>
            <a:r>
              <a:rPr sz="1700" b="1">
                <a:solidFill>
                  <a:srgbClr val="D04A02"/>
                </a:solidFill>
                <a:latin typeface="Calibri"/>
              </a:rPr>
              <a:t>Runnable SQL output</a:t>
            </a:r>
          </a:p>
          <a:p>
            <a:pPr algn="l">
              <a:spcAft>
                <a:spcPts val="0"/>
              </a:spcAft>
            </a:pPr>
            <a:r>
              <a:rPr sz="1350" b="0">
                <a:solidFill>
                  <a:srgbClr val="4B5563"/>
                </a:solidFill>
                <a:latin typeface="Calibri"/>
              </a:rPr>
              <a:t>ETL stored procedures and DDL, ready to review and run.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D24"/>
        </a:solidFill>
        <a:effectLst/>
      </p:bgPr>
    </p:bg>
    <p:spTree>
      <p:nvGrpSpPr>
        <p:cNvPr id="1" name=""/>
        <p:cNvGrpSpPr/>
        <p:nvPr/>
      </p:nvGrpSpPr>
      <p:grpSpPr/>
      <p:sp>
        <p:nvSpPr>
          <p:cNvPr id="2" name="TextBox 1"/>
          <p:cNvSpPr txBox="1"/>
          <p:nvPr/>
        </p:nvSpPr>
        <p:spPr>
          <a:xfrm>
            <a:off x="822960" y="2468880"/>
            <a:ext cx="10515600" cy="2011680"/>
          </a:xfrm>
          <a:prstGeom prst="rect">
            <a:avLst/>
          </a:prstGeom>
          <a:noFill/>
        </p:spPr>
        <p:txBody>
          <a:bodyPr wrap="square" lIns="0" rIns="0" tIns="0" bIns="0">
            <a:spAutoFit/>
          </a:bodyPr>
          <a:lstStyle/>
          <a:p>
            <a:pPr algn="l">
              <a:spcAft>
                <a:spcPts val="800"/>
              </a:spcAft>
            </a:pPr>
            <a:r>
              <a:rPr sz="4000" b="1">
                <a:solidFill>
                  <a:srgbClr val="FFFFFF"/>
                </a:solidFill>
                <a:latin typeface="Calibri"/>
              </a:rPr>
              <a:t>AI drafts. Humans decide.</a:t>
            </a:r>
          </a:p>
          <a:p>
            <a:pPr algn="l">
              <a:spcAft>
                <a:spcPts val="0"/>
              </a:spcAft>
            </a:pPr>
            <a:r>
              <a:rPr sz="1800" b="0">
                <a:solidFill>
                  <a:srgbClr val="C7CDD6"/>
                </a:solidFill>
                <a:latin typeface="Calibri"/>
              </a:rPr>
              <a:t>Faster, more consistent conversion mapping — with a human in control end to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